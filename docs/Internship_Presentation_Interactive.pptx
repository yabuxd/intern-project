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" Target="slide3.xml"/><Relationship Id="rId2" Type="http://schemas.openxmlformats.org/officeDocument/2006/relationships/slide" Target="slide4.xml"/><Relationship Id="rId3" Type="http://schemas.openxmlformats.org/officeDocument/2006/relationships/slide" Target="slide5.xml"/><Relationship Id="rId4" Type="http://schemas.openxmlformats.org/officeDocument/2006/relationships/slide" Target="slide6.xml"/><Relationship Id="rId5" Type="http://schemas.openxmlformats.org/officeDocument/2006/relationships/slide" Target="slide7.xml"/><Relationship Id="rId6" Type="http://schemas.openxmlformats.org/officeDocument/2006/relationships/slide" Target="slide8.xml"/><Relationship Id="rId7" Type="http://schemas.openxmlformats.org/officeDocument/2006/relationships/slide" Target="slide9.xml"/><Relationship Id="rId8" Type="http://schemas.openxmlformats.org/officeDocument/2006/relationships/slide" Target="slide10.xml"/><Relationship Id="rId9" Type="http://schemas.openxmlformats.org/officeDocument/2006/relationships/slide" Target="slide11.xml"/><Relationship Id="rId10" Type="http://schemas.openxmlformats.org/officeDocument/2006/relationships/slide" Target="slide12.xml"/><Relationship Id="rId11" Type="http://schemas.openxmlformats.org/officeDocument/2006/relationships/slide" Target="slide13.xml"/><Relationship Id="rId12" Type="http://schemas.openxmlformats.org/officeDocument/2006/relationships/slide" Target="slide14.xml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" Target="slide2.xml"/><Relationship Id="rId3" Type="http://schemas.openxmlformats.org/officeDocument/2006/relationships/slide" Target="slide4.xm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" Target="slide3.xml"/><Relationship Id="rId3" Type="http://schemas.openxmlformats.org/officeDocument/2006/relationships/slide" Target="slide5.xm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" Target="slide4.xml"/><Relationship Id="rId3" Type="http://schemas.openxmlformats.org/officeDocument/2006/relationships/slide" Target="slide6.xm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" Target="slide5.xml"/><Relationship Id="rId3" Type="http://schemas.openxmlformats.org/officeDocument/2006/relationships/slide" Target="slide7.xm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" Target="slide8.xml"/><Relationship Id="rId2" Type="http://schemas.openxmlformats.org/officeDocument/2006/relationships/slide" Target="slide8.xml"/><Relationship Id="rId3" Type="http://schemas.openxmlformats.org/officeDocument/2006/relationships/slide" Target="slide8.xml"/><Relationship Id="rId4" Type="http://schemas.openxmlformats.org/officeDocument/2006/relationships/slide" Target="slide8.xml"/><Relationship Id="rId5" Type="http://schemas.openxmlformats.org/officeDocument/2006/relationships/slide" Target="slide8.xml"/><Relationship Id="rId6" Type="http://schemas.openxmlformats.org/officeDocument/2006/relationships/slide" Target="slide8.xml"/><Relationship Id="rId7" Type="http://schemas.openxmlformats.org/officeDocument/2006/relationships/slide" Target="slide8.xml"/><Relationship Id="rId8" Type="http://schemas.openxmlformats.org/officeDocument/2006/relationships/slide" Target="slide8.xml"/><Relationship Id="rId9" Type="http://schemas.openxmlformats.org/officeDocument/2006/relationships/slide" Target="slide8.xml"/><Relationship Id="rId10" Type="http://schemas.openxmlformats.org/officeDocument/2006/relationships/slide" Target="slide8.xml"/><Relationship Id="rId11" Type="http://schemas.openxmlformats.org/officeDocument/2006/relationships/slide" Target="slide8.xml"/><Relationship Id="rId12" Type="http://schemas.openxmlformats.org/officeDocument/2006/relationships/slide" Target="slide8.xml"/><Relationship Id="rId13" Type="http://schemas.openxmlformats.org/officeDocument/2006/relationships/slide" Target="slide8.xml"/><Relationship Id="rId14" Type="http://schemas.openxmlformats.org/officeDocument/2006/relationships/slide" Target="slide8.xml"/><Relationship Id="rId15" Type="http://schemas.openxmlformats.org/officeDocument/2006/relationships/slide" Target="slide8.xml"/><Relationship Id="rId16" Type="http://schemas.openxmlformats.org/officeDocument/2006/relationships/slide" Target="slide8.xml"/><Relationship Id="rId17" Type="http://schemas.openxmlformats.org/officeDocument/2006/relationships/slide" Target="slide8.xml"/><Relationship Id="rId18" Type="http://schemas.openxmlformats.org/officeDocument/2006/relationships/slide" Target="slide8.xml"/><Relationship Id="rId19" Type="http://schemas.openxmlformats.org/officeDocument/2006/relationships/slide" Target="slide8.xml"/><Relationship Id="rId20" Type="http://schemas.openxmlformats.org/officeDocument/2006/relationships/slide" Target="slide2.xml"/><Relationship Id="rId21" Type="http://schemas.openxmlformats.org/officeDocument/2006/relationships/slide" Target="slide6.xml"/><Relationship Id="rId22" Type="http://schemas.openxmlformats.org/officeDocument/2006/relationships/slide" Target="slide8.xml"/><Relationship Id="rId23" Type="http://schemas.openxmlformats.org/officeDocument/2006/relationships/slideLayout" Target="../slideLayouts/slideLayout1.xml"/><Relationship Id="rId2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" Target="slide7.xml"/><Relationship Id="rId3" Type="http://schemas.openxmlformats.org/officeDocument/2006/relationships/slide" Target="slide9.xm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" Target="slide8.xml"/><Relationship Id="rId3" Type="http://schemas.openxmlformats.org/officeDocument/2006/relationships/slide" Target="slide10.xm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" Target="slide9.xml"/><Relationship Id="rId3" Type="http://schemas.openxmlformats.org/officeDocument/2006/relationships/slide" Target="slide11.xm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" Target="slide10.xml"/><Relationship Id="rId3" Type="http://schemas.openxmlformats.org/officeDocument/2006/relationships/slide" Target="slide12.xm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" Target="slide11.xml"/><Relationship Id="rId3" Type="http://schemas.openxmlformats.org/officeDocument/2006/relationships/slide" Target="slide13.xm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" Target="slide12.xml"/><Relationship Id="rId3" Type="http://schemas.openxmlformats.org/officeDocument/2006/relationships/slide" Target="slide14.xm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" Target="slide13.xml"/><Relationship Id="rId3" Type="http://schemas.openxmlformats.org/officeDocument/2006/relationships/slide" Target="slide15.xm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" Target="slide5.xml"/><Relationship Id="rId2" Type="http://schemas.openxmlformats.org/officeDocument/2006/relationships/slide" Target="slide8.xml"/><Relationship Id="rId3" Type="http://schemas.openxmlformats.org/officeDocument/2006/relationships/slide" Target="slide7.xml"/><Relationship Id="rId4" Type="http://schemas.openxmlformats.org/officeDocument/2006/relationships/slide" Target="slide9.xml"/><Relationship Id="rId5" Type="http://schemas.openxmlformats.org/officeDocument/2006/relationships/slide" Target="slide10.xml"/><Relationship Id="rId6" Type="http://schemas.openxmlformats.org/officeDocument/2006/relationships/slide" Target="slide2.xml"/><Relationship Id="rId7" Type="http://schemas.openxmlformats.org/officeDocument/2006/relationships/slide" Target="slide2.xml"/><Relationship Id="rId8" Type="http://schemas.openxmlformats.org/officeDocument/2006/relationships/slide" Target="slide14.xml"/><Relationship Id="rId9" Type="http://schemas.openxmlformats.org/officeDocument/2006/relationships/slide" Target="slide2.xml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972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59E0B"/>
                </a:solidFill>
              </a:rPr>
              <a:t>INTERNSHIP PROJECT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7772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8FAFC"/>
                </a:solidFill>
              </a:rPr>
              <a:t>One app. Every role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8FAFC"/>
                </a:solidFill>
              </a:rPr>
              <a:t>on the restaurant floor.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48640" y="29260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Restaurant Operations &amp; Order Management  ·  React · Laravel · Supabase · Chapa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3657600"/>
            <a:ext cx="2377440" cy="457200"/>
          </a:xfrm>
          <a:prstGeom prst="roundRect">
            <a:avLst>
              <a:gd name="adj" fmla="val 16000"/>
            </a:avLst>
          </a:prstGeom>
          <a:solidFill>
            <a:srgbClr val="2563EB"/>
          </a:solidFill>
          <a:ln/>
        </p:spPr>
      </p:sp>
      <p:sp>
        <p:nvSpPr>
          <p:cNvPr id="8" name="Text 6">
            <a:hlinkClick r:id="rId1" tooltip="" action="ppaction://hlinksldjump"/>
          </p:cNvPr>
          <p:cNvSpPr/>
          <p:nvPr/>
        </p:nvSpPr>
        <p:spPr>
          <a:xfrm>
            <a:off x="548640" y="36576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u="sng" dirty="0">
                <a:solidFill>
                  <a:srgbClr val="FFFFFF"/>
                </a:solidFill>
                <a:hlinkClick r:id="rId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Start interactive tour →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108960" y="37490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Or press → for linear mode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5603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59E0B"/>
                </a:solidFill>
              </a:rPr>
              <a:t>INTERACTIVE MENU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Jump to any section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Click a card. Use Menu / Prev / Next on every slide.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2651760" cy="594360"/>
          </a:xfrm>
          <a:prstGeom prst="roundRect">
            <a:avLst>
              <a:gd name="adj" fmla="val 12308"/>
            </a:avLst>
          </a:prstGeom>
          <a:solidFill>
            <a:srgbClr val="1E293B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417320"/>
            <a:ext cx="91440" cy="59436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8" name="Text 6">
            <a:hlinkClick r:id="rId1" tooltip="" action="ppaction://hlinksldjump"/>
          </p:cNvPr>
          <p:cNvSpPr/>
          <p:nvPr/>
        </p:nvSpPr>
        <p:spPr>
          <a:xfrm>
            <a:off x="640080" y="141732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u="sng" dirty="0">
                <a:solidFill>
                  <a:srgbClr val="F8FAFC"/>
                </a:solidFill>
                <a:hlinkClick r:id="rId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01  The problem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91840" y="1417320"/>
            <a:ext cx="2651760" cy="594360"/>
          </a:xfrm>
          <a:prstGeom prst="roundRect">
            <a:avLst>
              <a:gd name="adj" fmla="val 12308"/>
            </a:avLst>
          </a:prstGeom>
          <a:solidFill>
            <a:srgbClr val="1E293B"/>
          </a:solidFill>
          <a:ln/>
        </p:spPr>
      </p:sp>
      <p:sp>
        <p:nvSpPr>
          <p:cNvPr id="10" name="Shape 8"/>
          <p:cNvSpPr/>
          <p:nvPr/>
        </p:nvSpPr>
        <p:spPr>
          <a:xfrm>
            <a:off x="3291840" y="1417320"/>
            <a:ext cx="91440" cy="5943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1" name="Text 9">
            <a:hlinkClick r:id="rId2" tooltip="" action="ppaction://hlinksldjump"/>
          </p:cNvPr>
          <p:cNvSpPr/>
          <p:nvPr/>
        </p:nvSpPr>
        <p:spPr>
          <a:xfrm>
            <a:off x="3474720" y="141732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u="sng" dirty="0">
                <a:solidFill>
                  <a:srgbClr val="F8FAFC"/>
                </a:solidFill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02  The solution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126480" y="1417320"/>
            <a:ext cx="2651760" cy="594360"/>
          </a:xfrm>
          <a:prstGeom prst="roundRect">
            <a:avLst>
              <a:gd name="adj" fmla="val 12308"/>
            </a:avLst>
          </a:prstGeom>
          <a:solidFill>
            <a:srgbClr val="1E293B"/>
          </a:solidFill>
          <a:ln/>
        </p:spPr>
      </p:sp>
      <p:sp>
        <p:nvSpPr>
          <p:cNvPr id="13" name="Shape 11"/>
          <p:cNvSpPr/>
          <p:nvPr/>
        </p:nvSpPr>
        <p:spPr>
          <a:xfrm>
            <a:off x="6126480" y="1417320"/>
            <a:ext cx="91440" cy="59436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4" name="Text 12">
            <a:hlinkClick r:id="rId3" tooltip="" action="ppaction://hlinksldjump"/>
          </p:cNvPr>
          <p:cNvSpPr/>
          <p:nvPr/>
        </p:nvSpPr>
        <p:spPr>
          <a:xfrm>
            <a:off x="6309360" y="141732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u="sng" dirty="0">
                <a:solidFill>
                  <a:srgbClr val="F8FAFC"/>
                </a:solidFill>
                <a:hlinkClick r:id="rId3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03  Architecture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2148840"/>
            <a:ext cx="2651760" cy="594360"/>
          </a:xfrm>
          <a:prstGeom prst="roundRect">
            <a:avLst>
              <a:gd name="adj" fmla="val 12308"/>
            </a:avLst>
          </a:prstGeom>
          <a:solidFill>
            <a:srgbClr val="1E293B"/>
          </a:solidFill>
          <a:ln/>
        </p:spPr>
      </p:sp>
      <p:sp>
        <p:nvSpPr>
          <p:cNvPr id="16" name="Shape 14"/>
          <p:cNvSpPr/>
          <p:nvPr/>
        </p:nvSpPr>
        <p:spPr>
          <a:xfrm>
            <a:off x="457200" y="2148840"/>
            <a:ext cx="91440" cy="5943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7" name="Text 15">
            <a:hlinkClick r:id="rId4" tooltip="" action="ppaction://hlinksldjump"/>
          </p:cNvPr>
          <p:cNvSpPr/>
          <p:nvPr/>
        </p:nvSpPr>
        <p:spPr>
          <a:xfrm>
            <a:off x="640080" y="214884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u="sng" dirty="0">
                <a:solidFill>
                  <a:srgbClr val="F8FAFC"/>
                </a:solidFill>
                <a:hlinkClick r:id="rId4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04  Key features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291840" y="2148840"/>
            <a:ext cx="2651760" cy="594360"/>
          </a:xfrm>
          <a:prstGeom prst="roundRect">
            <a:avLst>
              <a:gd name="adj" fmla="val 12308"/>
            </a:avLst>
          </a:prstGeom>
          <a:solidFill>
            <a:srgbClr val="1E293B"/>
          </a:solidFill>
          <a:ln/>
        </p:spPr>
      </p:sp>
      <p:sp>
        <p:nvSpPr>
          <p:cNvPr id="19" name="Shape 17"/>
          <p:cNvSpPr/>
          <p:nvPr/>
        </p:nvSpPr>
        <p:spPr>
          <a:xfrm>
            <a:off x="3291840" y="2148840"/>
            <a:ext cx="91440" cy="59436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0" name="Text 18">
            <a:hlinkClick r:id="rId5" tooltip="" action="ppaction://hlinksldjump"/>
          </p:cNvPr>
          <p:cNvSpPr/>
          <p:nvPr/>
        </p:nvSpPr>
        <p:spPr>
          <a:xfrm>
            <a:off x="3474720" y="214884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u="sng" dirty="0">
                <a:solidFill>
                  <a:srgbClr val="F8FAFC"/>
                </a:solidFill>
                <a:hlinkClick r:id="rId5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05  Problems I faced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126480" y="2148840"/>
            <a:ext cx="2651760" cy="594360"/>
          </a:xfrm>
          <a:prstGeom prst="roundRect">
            <a:avLst>
              <a:gd name="adj" fmla="val 12308"/>
            </a:avLst>
          </a:prstGeom>
          <a:solidFill>
            <a:srgbClr val="1E293B"/>
          </a:solidFill>
          <a:ln/>
        </p:spPr>
      </p:sp>
      <p:sp>
        <p:nvSpPr>
          <p:cNvPr id="22" name="Shape 20"/>
          <p:cNvSpPr/>
          <p:nvPr/>
        </p:nvSpPr>
        <p:spPr>
          <a:xfrm>
            <a:off x="6126480" y="2148840"/>
            <a:ext cx="91440" cy="5943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3" name="Text 21">
            <a:hlinkClick r:id="rId6" tooltip="" action="ppaction://hlinksldjump"/>
          </p:cNvPr>
          <p:cNvSpPr/>
          <p:nvPr/>
        </p:nvSpPr>
        <p:spPr>
          <a:xfrm>
            <a:off x="6309360" y="214884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u="sng" dirty="0">
                <a:solidFill>
                  <a:srgbClr val="F8FAFC"/>
                </a:solidFill>
                <a:hlinkClick r:id="rId6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06  How I resolved them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57200" y="2880360"/>
            <a:ext cx="2651760" cy="594360"/>
          </a:xfrm>
          <a:prstGeom prst="roundRect">
            <a:avLst>
              <a:gd name="adj" fmla="val 12308"/>
            </a:avLst>
          </a:prstGeom>
          <a:solidFill>
            <a:srgbClr val="1E293B"/>
          </a:solidFill>
          <a:ln/>
        </p:spPr>
      </p:sp>
      <p:sp>
        <p:nvSpPr>
          <p:cNvPr id="25" name="Shape 23"/>
          <p:cNvSpPr/>
          <p:nvPr/>
        </p:nvSpPr>
        <p:spPr>
          <a:xfrm>
            <a:off x="457200" y="2880360"/>
            <a:ext cx="91440" cy="59436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6" name="Text 24">
            <a:hlinkClick r:id="rId7" tooltip="" action="ppaction://hlinksldjump"/>
          </p:cNvPr>
          <p:cNvSpPr/>
          <p:nvPr/>
        </p:nvSpPr>
        <p:spPr>
          <a:xfrm>
            <a:off x="640080" y="288036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u="sng" dirty="0">
                <a:solidFill>
                  <a:srgbClr val="F8FAFC"/>
                </a:solidFill>
                <a:hlinkClick r:id="rId7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07  What I learned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3291840" y="2880360"/>
            <a:ext cx="2651760" cy="594360"/>
          </a:xfrm>
          <a:prstGeom prst="roundRect">
            <a:avLst>
              <a:gd name="adj" fmla="val 12308"/>
            </a:avLst>
          </a:prstGeom>
          <a:solidFill>
            <a:srgbClr val="1E293B"/>
          </a:solidFill>
          <a:ln/>
        </p:spPr>
      </p:sp>
      <p:sp>
        <p:nvSpPr>
          <p:cNvPr id="28" name="Shape 26"/>
          <p:cNvSpPr/>
          <p:nvPr/>
        </p:nvSpPr>
        <p:spPr>
          <a:xfrm>
            <a:off x="3291840" y="2880360"/>
            <a:ext cx="91440" cy="5943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9" name="Text 27">
            <a:hlinkClick r:id="rId8" tooltip="" action="ppaction://hlinksldjump"/>
          </p:cNvPr>
          <p:cNvSpPr/>
          <p:nvPr/>
        </p:nvSpPr>
        <p:spPr>
          <a:xfrm>
            <a:off x="3474720" y="288036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u="sng" dirty="0">
                <a:solidFill>
                  <a:srgbClr val="F8FAFC"/>
                </a:solidFill>
                <a:hlinkClick r:id="rId8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08  Demo walkthrough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126480" y="2880360"/>
            <a:ext cx="2651760" cy="594360"/>
          </a:xfrm>
          <a:prstGeom prst="roundRect">
            <a:avLst>
              <a:gd name="adj" fmla="val 12308"/>
            </a:avLst>
          </a:prstGeom>
          <a:solidFill>
            <a:srgbClr val="1E293B"/>
          </a:solidFill>
          <a:ln/>
        </p:spPr>
      </p:sp>
      <p:sp>
        <p:nvSpPr>
          <p:cNvPr id="31" name="Shape 29"/>
          <p:cNvSpPr/>
          <p:nvPr/>
        </p:nvSpPr>
        <p:spPr>
          <a:xfrm>
            <a:off x="6126480" y="2880360"/>
            <a:ext cx="91440" cy="5943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2" name="Text 30">
            <a:hlinkClick r:id="rId9" tooltip="" action="ppaction://hlinksldjump"/>
          </p:cNvPr>
          <p:cNvSpPr/>
          <p:nvPr/>
        </p:nvSpPr>
        <p:spPr>
          <a:xfrm>
            <a:off x="6309360" y="288036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u="sng" dirty="0">
                <a:solidFill>
                  <a:srgbClr val="F8FAFC"/>
                </a:solidFill>
                <a:hlinkClick r:id="rId9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09  Results &amp; quality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457200" y="3611880"/>
            <a:ext cx="2651760" cy="594360"/>
          </a:xfrm>
          <a:prstGeom prst="roundRect">
            <a:avLst>
              <a:gd name="adj" fmla="val 12308"/>
            </a:avLst>
          </a:prstGeom>
          <a:solidFill>
            <a:srgbClr val="1E293B"/>
          </a:solidFill>
          <a:ln/>
        </p:spPr>
      </p:sp>
      <p:sp>
        <p:nvSpPr>
          <p:cNvPr id="34" name="Shape 32"/>
          <p:cNvSpPr/>
          <p:nvPr/>
        </p:nvSpPr>
        <p:spPr>
          <a:xfrm>
            <a:off x="457200" y="3611880"/>
            <a:ext cx="91440" cy="594360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35" name="Text 33">
            <a:hlinkClick r:id="rId10" tooltip="" action="ppaction://hlinksldjump"/>
          </p:cNvPr>
          <p:cNvSpPr/>
          <p:nvPr/>
        </p:nvSpPr>
        <p:spPr>
          <a:xfrm>
            <a:off x="640080" y="361188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u="sng" dirty="0">
                <a:solidFill>
                  <a:srgbClr val="F8FAFC"/>
                </a:solidFill>
                <a:hlinkClick r:id="rId10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10  What I would improve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3291840" y="3611880"/>
            <a:ext cx="2651760" cy="594360"/>
          </a:xfrm>
          <a:prstGeom prst="roundRect">
            <a:avLst>
              <a:gd name="adj" fmla="val 12308"/>
            </a:avLst>
          </a:prstGeom>
          <a:solidFill>
            <a:srgbClr val="1E293B"/>
          </a:solidFill>
          <a:ln/>
        </p:spPr>
      </p:sp>
      <p:sp>
        <p:nvSpPr>
          <p:cNvPr id="37" name="Shape 35"/>
          <p:cNvSpPr/>
          <p:nvPr/>
        </p:nvSpPr>
        <p:spPr>
          <a:xfrm>
            <a:off x="3291840" y="3611880"/>
            <a:ext cx="91440" cy="59436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8" name="Text 36">
            <a:hlinkClick r:id="rId11" tooltip="" action="ppaction://hlinksldjump"/>
          </p:cNvPr>
          <p:cNvSpPr/>
          <p:nvPr/>
        </p:nvSpPr>
        <p:spPr>
          <a:xfrm>
            <a:off x="3474720" y="361188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u="sng" dirty="0">
                <a:solidFill>
                  <a:srgbClr val="F8FAFC"/>
                </a:solidFill>
                <a:hlinkClick r:id="rId1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11  Roadmap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6126480" y="3611880"/>
            <a:ext cx="2651760" cy="594360"/>
          </a:xfrm>
          <a:prstGeom prst="roundRect">
            <a:avLst>
              <a:gd name="adj" fmla="val 12308"/>
            </a:avLst>
          </a:prstGeom>
          <a:solidFill>
            <a:srgbClr val="1E293B"/>
          </a:solidFill>
          <a:ln/>
        </p:spPr>
      </p:sp>
      <p:sp>
        <p:nvSpPr>
          <p:cNvPr id="40" name="Shape 38"/>
          <p:cNvSpPr/>
          <p:nvPr/>
        </p:nvSpPr>
        <p:spPr>
          <a:xfrm>
            <a:off x="6126480" y="3611880"/>
            <a:ext cx="91440" cy="5943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1" name="Text 39">
            <a:hlinkClick r:id="rId12" tooltip="" action="ppaction://hlinksldjump"/>
          </p:cNvPr>
          <p:cNvSpPr/>
          <p:nvPr/>
        </p:nvSpPr>
        <p:spPr>
          <a:xfrm>
            <a:off x="6309360" y="361188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u="sng" dirty="0">
                <a:solidFill>
                  <a:srgbClr val="F8FAFC"/>
                </a:solidFill>
                <a:hlinkClick r:id="rId1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12  Takeaways + Q&amp;A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5603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59E0B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tickets and phone calls don’t scale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4023360" cy="3108960"/>
          </a:xfrm>
          <a:prstGeom prst="roundRect">
            <a:avLst>
              <a:gd name="adj" fmla="val 2353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01600" dist="25400" dir="162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188720"/>
            <a:ext cx="73152" cy="310896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7" name="Text 5"/>
          <p:cNvSpPr/>
          <p:nvPr/>
        </p:nvSpPr>
        <p:spPr>
          <a:xfrm>
            <a:off x="658368" y="1298448"/>
            <a:ext cx="3703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</a:rPr>
              <a:t>What restaurants struggle with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58368" y="1572768"/>
            <a:ext cx="3703320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• Kitchen, cashier, host, and drivers use different “sources of truth”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• Payment confirmation and cooking start get out of sync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• Table bookings collide without shared availability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• Permissions are informal (“just give them the tablet”)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• Delivery coordination happens over phone/chat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09160" y="1188720"/>
            <a:ext cx="3977640" cy="3108960"/>
          </a:xfrm>
          <a:prstGeom prst="roundRect">
            <a:avLst>
              <a:gd name="adj" fmla="val 2353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01600" dist="25400" dir="162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1188720"/>
            <a:ext cx="73152" cy="3108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1" name="Text 9"/>
          <p:cNvSpPr/>
          <p:nvPr/>
        </p:nvSpPr>
        <p:spPr>
          <a:xfrm>
            <a:off x="4910328" y="129844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</a:rPr>
              <a:t>Why it matters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910328" y="1572768"/>
            <a:ext cx="3657600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• Wrong or unpaid orders waste food and trust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• Double-booked tables hurt guest experience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• Managers can’t see live floor health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• Staff roles blur → security and mistakes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• Growth needs software, not more paper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0040" y="4709160"/>
            <a:ext cx="1005840" cy="292608"/>
          </a:xfrm>
          <a:prstGeom prst="roundRect">
            <a:avLst>
              <a:gd name="adj" fmla="val 18750"/>
            </a:avLst>
          </a:prstGeom>
          <a:solidFill>
            <a:srgbClr val="1E293B"/>
          </a:solidFill>
          <a:ln/>
        </p:spPr>
      </p:sp>
      <p:sp>
        <p:nvSpPr>
          <p:cNvPr id="14" name="Text 12">
            <a:hlinkClick r:id="rId1" tooltip="" action="ppaction://hlinksldjump"/>
          </p:cNvPr>
          <p:cNvSpPr/>
          <p:nvPr/>
        </p:nvSpPr>
        <p:spPr>
          <a:xfrm>
            <a:off x="320040" y="4709160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u="sng" dirty="0">
                <a:solidFill>
                  <a:srgbClr val="F8FAFC"/>
                </a:solidFill>
                <a:hlinkClick r:id="rId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Menu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675120" y="4709160"/>
            <a:ext cx="1005840" cy="292608"/>
          </a:xfrm>
          <a:prstGeom prst="roundRect">
            <a:avLst>
              <a:gd name="adj" fmla="val 18750"/>
            </a:avLst>
          </a:prstGeom>
          <a:solidFill>
            <a:srgbClr val="1E293B"/>
          </a:solidFill>
          <a:ln/>
        </p:spPr>
      </p:sp>
      <p:sp>
        <p:nvSpPr>
          <p:cNvPr id="16" name="Text 14">
            <a:hlinkClick r:id="rId2" tooltip="" action="ppaction://hlinksldjump"/>
          </p:cNvPr>
          <p:cNvSpPr/>
          <p:nvPr/>
        </p:nvSpPr>
        <p:spPr>
          <a:xfrm>
            <a:off x="6675120" y="4709160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u="sng" dirty="0">
                <a:solidFill>
                  <a:srgbClr val="F8FAFC"/>
                </a:solidFill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← Prev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772400" y="4709160"/>
            <a:ext cx="1005840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/>
        </p:spPr>
      </p:sp>
      <p:sp>
        <p:nvSpPr>
          <p:cNvPr id="18" name="Text 16">
            <a:hlinkClick r:id="rId3" tooltip="" action="ppaction://hlinksldjump"/>
          </p:cNvPr>
          <p:cNvSpPr/>
          <p:nvPr/>
        </p:nvSpPr>
        <p:spPr>
          <a:xfrm>
            <a:off x="7772400" y="4709160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u="sng" dirty="0">
                <a:solidFill>
                  <a:srgbClr val="FFFFFF"/>
                </a:solidFill>
                <a:hlinkClick r:id="rId3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Next →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463040" y="4709160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Click blue buttons to navigate · 15 min talk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5603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59E0B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platform for every role on the floor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2697480" cy="1234440"/>
          </a:xfrm>
          <a:prstGeom prst="roundRect">
            <a:avLst>
              <a:gd name="adj" fmla="val 7407"/>
            </a:avLst>
          </a:prstGeom>
          <a:solidFill>
            <a:srgbClr val="1E293B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46304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</a:rPr>
              <a:t>Customers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182880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Menu, cart, dine-in/delivery, Chapa or cash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91840" y="1234440"/>
            <a:ext cx="2697480" cy="1234440"/>
          </a:xfrm>
          <a:prstGeom prst="roundRect">
            <a:avLst>
              <a:gd name="adj" fmla="val 7407"/>
            </a:avLst>
          </a:prstGeom>
          <a:solidFill>
            <a:srgbClr val="1E293B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0" y="146304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</a:rPr>
              <a:t>Cashier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474720" y="182880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Validate Chapa + collect open cash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126480" y="1234440"/>
            <a:ext cx="2697480" cy="1234440"/>
          </a:xfrm>
          <a:prstGeom prst="roundRect">
            <a:avLst>
              <a:gd name="adj" fmla="val 7407"/>
            </a:avLst>
          </a:prstGeom>
          <a:solidFill>
            <a:srgbClr val="1E293B"/>
          </a:solidFill>
          <a:ln/>
        </p:spPr>
      </p:sp>
      <p:sp>
        <p:nvSpPr>
          <p:cNvPr id="12" name="Text 10"/>
          <p:cNvSpPr/>
          <p:nvPr/>
        </p:nvSpPr>
        <p:spPr>
          <a:xfrm>
            <a:off x="6309360" y="146304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</a:rPr>
              <a:t>Kitchen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309360" y="182880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Live queue; advance order status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2651760"/>
            <a:ext cx="2697480" cy="1234440"/>
          </a:xfrm>
          <a:prstGeom prst="roundRect">
            <a:avLst>
              <a:gd name="adj" fmla="val 7407"/>
            </a:avLst>
          </a:prstGeom>
          <a:solidFill>
            <a:srgbClr val="1E293B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288036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</a:rPr>
              <a:t>Drivers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0080" y="324612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Accept, deliver, confirm handoff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291840" y="2651760"/>
            <a:ext cx="2697480" cy="1234440"/>
          </a:xfrm>
          <a:prstGeom prst="roundRect">
            <a:avLst>
              <a:gd name="adj" fmla="val 7407"/>
            </a:avLst>
          </a:prstGeom>
          <a:solidFill>
            <a:srgbClr val="1E293B"/>
          </a:solidFill>
          <a:ln/>
        </p:spPr>
      </p:sp>
      <p:sp>
        <p:nvSpPr>
          <p:cNvPr id="18" name="Text 16"/>
          <p:cNvSpPr/>
          <p:nvPr/>
        </p:nvSpPr>
        <p:spPr>
          <a:xfrm>
            <a:off x="3474720" y="288036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</a:rPr>
              <a:t>Host / Mgr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474720" y="324612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Tables, reservations, menu approvals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126480" y="2651760"/>
            <a:ext cx="2697480" cy="1234440"/>
          </a:xfrm>
          <a:prstGeom prst="roundRect">
            <a:avLst>
              <a:gd name="adj" fmla="val 7407"/>
            </a:avLst>
          </a:prstGeom>
          <a:solidFill>
            <a:srgbClr val="1E293B"/>
          </a:solidFill>
          <a:ln/>
        </p:spPr>
      </p:sp>
      <p:sp>
        <p:nvSpPr>
          <p:cNvPr id="21" name="Text 19"/>
          <p:cNvSpPr/>
          <p:nvPr/>
        </p:nvSpPr>
        <p:spPr>
          <a:xfrm>
            <a:off x="6309360" y="288036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</a:rPr>
              <a:t>Admin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309360" y="324612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Analytics + role assignments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20040" y="4709160"/>
            <a:ext cx="1005840" cy="292608"/>
          </a:xfrm>
          <a:prstGeom prst="roundRect">
            <a:avLst>
              <a:gd name="adj" fmla="val 18750"/>
            </a:avLst>
          </a:prstGeom>
          <a:solidFill>
            <a:srgbClr val="1E293B"/>
          </a:solidFill>
          <a:ln/>
        </p:spPr>
      </p:sp>
      <p:sp>
        <p:nvSpPr>
          <p:cNvPr id="24" name="Text 22">
            <a:hlinkClick r:id="rId1" tooltip="" action="ppaction://hlinksldjump"/>
          </p:cNvPr>
          <p:cNvSpPr/>
          <p:nvPr/>
        </p:nvSpPr>
        <p:spPr>
          <a:xfrm>
            <a:off x="320040" y="4709160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u="sng" dirty="0">
                <a:solidFill>
                  <a:srgbClr val="F8FAFC"/>
                </a:solidFill>
                <a:hlinkClick r:id="rId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Menu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675120" y="4709160"/>
            <a:ext cx="1005840" cy="292608"/>
          </a:xfrm>
          <a:prstGeom prst="roundRect">
            <a:avLst>
              <a:gd name="adj" fmla="val 18750"/>
            </a:avLst>
          </a:prstGeom>
          <a:solidFill>
            <a:srgbClr val="1E293B"/>
          </a:solidFill>
          <a:ln/>
        </p:spPr>
      </p:sp>
      <p:sp>
        <p:nvSpPr>
          <p:cNvPr id="26" name="Text 24">
            <a:hlinkClick r:id="rId2" tooltip="" action="ppaction://hlinksldjump"/>
          </p:cNvPr>
          <p:cNvSpPr/>
          <p:nvPr/>
        </p:nvSpPr>
        <p:spPr>
          <a:xfrm>
            <a:off x="6675120" y="4709160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u="sng" dirty="0">
                <a:solidFill>
                  <a:srgbClr val="F8FAFC"/>
                </a:solidFill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← Prev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772400" y="4709160"/>
            <a:ext cx="1005840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/>
        </p:spPr>
      </p:sp>
      <p:sp>
        <p:nvSpPr>
          <p:cNvPr id="28" name="Text 26">
            <a:hlinkClick r:id="rId3" tooltip="" action="ppaction://hlinksldjump"/>
          </p:cNvPr>
          <p:cNvSpPr/>
          <p:nvPr/>
        </p:nvSpPr>
        <p:spPr>
          <a:xfrm>
            <a:off x="7772400" y="4709160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u="sng" dirty="0">
                <a:solidFill>
                  <a:srgbClr val="FFFFFF"/>
                </a:solidFill>
                <a:hlinkClick r:id="rId3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Next →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463040" y="4709160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Click blue buttons to navigate · 15 min talk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5603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59E0B"/>
                </a:solidFill>
              </a:rPr>
              <a:t>ARCHITECTURE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at the edge · Postgres at the core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280160"/>
            <a:ext cx="1965960" cy="1371600"/>
          </a:xfrm>
          <a:prstGeom prst="roundRect">
            <a:avLst>
              <a:gd name="adj" fmla="val 6667"/>
            </a:avLst>
          </a:prstGeom>
          <a:solidFill>
            <a:srgbClr val="1E293B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463040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React 19 SPA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01168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Vite · Tailwind · lazy routes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194560" y="1737360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59E0B"/>
                </a:solidFill>
              </a:rPr>
              <a:t>→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2468880" y="1280160"/>
            <a:ext cx="1965960" cy="1371600"/>
          </a:xfrm>
          <a:prstGeom prst="roundRect">
            <a:avLst>
              <a:gd name="adj" fmla="val 6667"/>
            </a:avLst>
          </a:prstGeom>
          <a:solidFill>
            <a:srgbClr val="1E293B"/>
          </a:solidFill>
          <a:ln/>
        </p:spPr>
      </p:sp>
      <p:sp>
        <p:nvSpPr>
          <p:cNvPr id="10" name="Text 8"/>
          <p:cNvSpPr/>
          <p:nvPr/>
        </p:nvSpPr>
        <p:spPr>
          <a:xfrm>
            <a:off x="2560320" y="1463040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Bearer JWT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560320" y="201168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Supabase Auth or local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297680" y="1737360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59E0B"/>
                </a:solidFill>
              </a:rPr>
              <a:t>→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4572000" y="1280160"/>
            <a:ext cx="1965960" cy="1371600"/>
          </a:xfrm>
          <a:prstGeom prst="roundRect">
            <a:avLst>
              <a:gd name="adj" fmla="val 6667"/>
            </a:avLst>
          </a:prstGeom>
          <a:solidFill>
            <a:srgbClr val="1E293B"/>
          </a:solidFill>
          <a:ln/>
        </p:spPr>
      </p:sp>
      <p:sp>
        <p:nvSpPr>
          <p:cNvPr id="14" name="Text 12"/>
          <p:cNvSpPr/>
          <p:nvPr/>
        </p:nvSpPr>
        <p:spPr>
          <a:xfrm>
            <a:off x="4663440" y="1463040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Laravel 13 API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663440" y="201168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Gates · Policies · services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00800" y="1737360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59E0B"/>
                </a:solidFill>
              </a:rPr>
              <a:t>→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6675120" y="1280160"/>
            <a:ext cx="1965960" cy="1371600"/>
          </a:xfrm>
          <a:prstGeom prst="roundRect">
            <a:avLst>
              <a:gd name="adj" fmla="val 6667"/>
            </a:avLst>
          </a:prstGeom>
          <a:solidFill>
            <a:srgbClr val="1E293B"/>
          </a:solidFill>
          <a:ln/>
        </p:spPr>
      </p:sp>
      <p:sp>
        <p:nvSpPr>
          <p:cNvPr id="18" name="Text 16"/>
          <p:cNvSpPr/>
          <p:nvPr/>
        </p:nvSpPr>
        <p:spPr>
          <a:xfrm>
            <a:off x="6766560" y="1463040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DB + Realtime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766560" y="201168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Postgres / SQLite · CDC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29260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</a:rPr>
              <a:t>Also: </a:t>
            </a:r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Chapa payments (ETB) · shared TypeScript contracts (@intern/shared) · kitchen Realtime with polling fallback · CI on GitHub Actions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7200" y="3749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Click → for features  ·  or jump to Challenges from Menu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20040" y="4709160"/>
            <a:ext cx="1005840" cy="292608"/>
          </a:xfrm>
          <a:prstGeom prst="roundRect">
            <a:avLst>
              <a:gd name="adj" fmla="val 18750"/>
            </a:avLst>
          </a:prstGeom>
          <a:solidFill>
            <a:srgbClr val="1E293B"/>
          </a:solidFill>
          <a:ln/>
        </p:spPr>
      </p:sp>
      <p:sp>
        <p:nvSpPr>
          <p:cNvPr id="23" name="Text 21">
            <a:hlinkClick r:id="rId1" tooltip="" action="ppaction://hlinksldjump"/>
          </p:cNvPr>
          <p:cNvSpPr/>
          <p:nvPr/>
        </p:nvSpPr>
        <p:spPr>
          <a:xfrm>
            <a:off x="320040" y="4709160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u="sng" dirty="0">
                <a:solidFill>
                  <a:srgbClr val="F8FAFC"/>
                </a:solidFill>
                <a:hlinkClick r:id="rId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Menu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675120" y="4709160"/>
            <a:ext cx="1005840" cy="292608"/>
          </a:xfrm>
          <a:prstGeom prst="roundRect">
            <a:avLst>
              <a:gd name="adj" fmla="val 18750"/>
            </a:avLst>
          </a:prstGeom>
          <a:solidFill>
            <a:srgbClr val="1E293B"/>
          </a:solidFill>
          <a:ln/>
        </p:spPr>
      </p:sp>
      <p:sp>
        <p:nvSpPr>
          <p:cNvPr id="25" name="Text 23">
            <a:hlinkClick r:id="rId2" tooltip="" action="ppaction://hlinksldjump"/>
          </p:cNvPr>
          <p:cNvSpPr/>
          <p:nvPr/>
        </p:nvSpPr>
        <p:spPr>
          <a:xfrm>
            <a:off x="6675120" y="4709160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u="sng" dirty="0">
                <a:solidFill>
                  <a:srgbClr val="F8FAFC"/>
                </a:solidFill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← Prev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772400" y="4709160"/>
            <a:ext cx="1005840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/>
        </p:spPr>
      </p:sp>
      <p:sp>
        <p:nvSpPr>
          <p:cNvPr id="27" name="Text 25">
            <a:hlinkClick r:id="rId3" tooltip="" action="ppaction://hlinksldjump"/>
          </p:cNvPr>
          <p:cNvSpPr/>
          <p:nvPr/>
        </p:nvSpPr>
        <p:spPr>
          <a:xfrm>
            <a:off x="7772400" y="4709160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u="sng" dirty="0">
                <a:solidFill>
                  <a:srgbClr val="FFFFFF"/>
                </a:solidFill>
                <a:hlinkClick r:id="rId3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Next →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463040" y="4709160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Click blue buttons to navigate · 15 min talk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5603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59E0B"/>
                </a:solidFill>
              </a:rPr>
              <a:t>KEY FEATURES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shipped (ranked by impact)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347472" cy="347472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14300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60120" y="1097280"/>
            <a:ext cx="4114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Payment-gated kitchen queue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120640" y="1097280"/>
            <a:ext cx="3566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Cook only after trusted settlement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1645920"/>
            <a:ext cx="347472" cy="347472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64592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60120" y="1600200"/>
            <a:ext cx="4114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RBAC (8 roles / 11 permissions)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120640" y="1600200"/>
            <a:ext cx="3566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Gates + admin role UI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2148840"/>
            <a:ext cx="347472" cy="347472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214884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60120" y="2103120"/>
            <a:ext cx="4114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Realtime kitchen + poll fallback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120640" y="2103120"/>
            <a:ext cx="3566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Works on Postgres and local SQLite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2651760"/>
            <a:ext cx="347472" cy="347472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265176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60120" y="2606040"/>
            <a:ext cx="4114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Chapa + cash cashier desk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120640" y="2606040"/>
            <a:ext cx="3566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Approve online pay; collect cash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57200" y="3154680"/>
            <a:ext cx="347472" cy="347472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315468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60120" y="3108960"/>
            <a:ext cx="4114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Delivery dispatch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120640" y="3108960"/>
            <a:ext cx="3566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Assign driver · dual confirmation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57200" y="3657600"/>
            <a:ext cx="347472" cy="347472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365760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6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960120" y="3611880"/>
            <a:ext cx="4114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Reservations + admin analytics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120640" y="3611880"/>
            <a:ext cx="3566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Overlap checks · revenue / AOV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320040" y="4709160"/>
            <a:ext cx="1005840" cy="292608"/>
          </a:xfrm>
          <a:prstGeom prst="roundRect">
            <a:avLst>
              <a:gd name="adj" fmla="val 18750"/>
            </a:avLst>
          </a:prstGeom>
          <a:solidFill>
            <a:srgbClr val="1E293B"/>
          </a:solidFill>
          <a:ln/>
        </p:spPr>
      </p:sp>
      <p:sp>
        <p:nvSpPr>
          <p:cNvPr id="30" name="Text 28">
            <a:hlinkClick r:id="rId1" tooltip="" action="ppaction://hlinksldjump"/>
          </p:cNvPr>
          <p:cNvSpPr/>
          <p:nvPr/>
        </p:nvSpPr>
        <p:spPr>
          <a:xfrm>
            <a:off x="320040" y="4709160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u="sng" dirty="0">
                <a:solidFill>
                  <a:srgbClr val="F8FAFC"/>
                </a:solidFill>
                <a:hlinkClick r:id="rId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Menu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675120" y="4709160"/>
            <a:ext cx="1005840" cy="292608"/>
          </a:xfrm>
          <a:prstGeom prst="roundRect">
            <a:avLst>
              <a:gd name="adj" fmla="val 18750"/>
            </a:avLst>
          </a:prstGeom>
          <a:solidFill>
            <a:srgbClr val="1E293B"/>
          </a:solidFill>
          <a:ln/>
        </p:spPr>
      </p:sp>
      <p:sp>
        <p:nvSpPr>
          <p:cNvPr id="32" name="Text 30">
            <a:hlinkClick r:id="rId2" tooltip="" action="ppaction://hlinksldjump"/>
          </p:cNvPr>
          <p:cNvSpPr/>
          <p:nvPr/>
        </p:nvSpPr>
        <p:spPr>
          <a:xfrm>
            <a:off x="6675120" y="4709160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u="sng" dirty="0">
                <a:solidFill>
                  <a:srgbClr val="F8FAFC"/>
                </a:solidFill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← Prev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7772400" y="4709160"/>
            <a:ext cx="1005840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/>
        </p:spPr>
      </p:sp>
      <p:sp>
        <p:nvSpPr>
          <p:cNvPr id="34" name="Text 32">
            <a:hlinkClick r:id="rId3" tooltip="" action="ppaction://hlinksldjump"/>
          </p:cNvPr>
          <p:cNvSpPr/>
          <p:nvPr/>
        </p:nvSpPr>
        <p:spPr>
          <a:xfrm>
            <a:off x="7772400" y="4709160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u="sng" dirty="0">
                <a:solidFill>
                  <a:srgbClr val="FFFFFF"/>
                </a:solidFill>
                <a:hlinkClick r:id="rId3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Next →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1463040" y="4709160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Click blue buttons to navigate · 15 min talk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5603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59E0B"/>
                </a:solidFill>
              </a:rPr>
              <a:t>PROBLEMS I FACED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real blockers during the build</a:t>
            </a:r>
            <a:endParaRPr lang="en-US" sz="2600" dirty="0"/>
          </a:p>
        </p:txBody>
      </p:sp>
      <p:sp>
        <p:nvSpPr>
          <p:cNvPr id="5" name="Text 3">
            <a:hlinkClick r:id="rId1" tooltip="" action="ppaction://hlinksldjump"/>
          </p:cNvPr>
          <p:cNvSpPr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u="sng" dirty="0">
                <a:solidFill>
                  <a:srgbClr val="F59E0B"/>
                </a:solidFill>
                <a:hlinkClick r:id="rId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Click any card to jump to how I resolved them →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41732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1E293B"/>
          </a:solidFill>
          <a:ln/>
        </p:spPr>
      </p:sp>
      <p:sp>
        <p:nvSpPr>
          <p:cNvPr id="7" name="Text 5">
            <a:hlinkClick r:id="rId2" tooltip="" action="ppaction://hlinksldjump"/>
          </p:cNvPr>
          <p:cNvSpPr/>
          <p:nvPr/>
        </p:nvSpPr>
        <p:spPr>
          <a:xfrm>
            <a:off x="502920" y="155448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u="sng" dirty="0">
                <a:solidFill>
                  <a:srgbClr val="F59E0B"/>
                </a:solidFill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01</a:t>
            </a:r>
            <a:endParaRPr lang="en-US" sz="1100" dirty="0"/>
          </a:p>
        </p:txBody>
      </p:sp>
      <p:sp>
        <p:nvSpPr>
          <p:cNvPr id="8" name="Text 6">
            <a:hlinkClick r:id="rId3" tooltip="" action="ppaction://hlinksldjump"/>
          </p:cNvPr>
          <p:cNvSpPr/>
          <p:nvPr/>
        </p:nvSpPr>
        <p:spPr>
          <a:xfrm>
            <a:off x="502920" y="178308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u="sng" dirty="0">
                <a:solidFill>
                  <a:srgbClr val="F8FAFC"/>
                </a:solidFill>
                <a:hlinkClick r:id="rId3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Chapa “paid” ≠ ready to cook</a:t>
            </a:r>
            <a:endParaRPr lang="en-US" sz="1300" dirty="0"/>
          </a:p>
        </p:txBody>
      </p:sp>
      <p:sp>
        <p:nvSpPr>
          <p:cNvPr id="9" name="Text 7">
            <a:hlinkClick r:id="rId4" tooltip="" action="ppaction://hlinksldjump"/>
          </p:cNvPr>
          <p:cNvSpPr/>
          <p:nvPr/>
        </p:nvSpPr>
        <p:spPr>
          <a:xfrm>
            <a:off x="502920" y="21945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u="sng" dirty="0">
                <a:solidFill>
                  <a:srgbClr val="94A3B8"/>
                </a:solidFill>
                <a:hlinkClick r:id="rId4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Kitchen must not start on unverified online payment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46120" y="141732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1E293B"/>
          </a:solidFill>
          <a:ln/>
        </p:spPr>
      </p:sp>
      <p:sp>
        <p:nvSpPr>
          <p:cNvPr id="11" name="Text 9">
            <a:hlinkClick r:id="rId5" tooltip="" action="ppaction://hlinksldjump"/>
          </p:cNvPr>
          <p:cNvSpPr/>
          <p:nvPr/>
        </p:nvSpPr>
        <p:spPr>
          <a:xfrm>
            <a:off x="3383280" y="155448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u="sng" dirty="0">
                <a:solidFill>
                  <a:srgbClr val="F59E0B"/>
                </a:solidFill>
                <a:hlinkClick r:id="rId5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02</a:t>
            </a:r>
            <a:endParaRPr lang="en-US" sz="1100" dirty="0"/>
          </a:p>
        </p:txBody>
      </p:sp>
      <p:sp>
        <p:nvSpPr>
          <p:cNvPr id="12" name="Text 10">
            <a:hlinkClick r:id="rId6" tooltip="" action="ppaction://hlinksldjump"/>
          </p:cNvPr>
          <p:cNvSpPr/>
          <p:nvPr/>
        </p:nvSpPr>
        <p:spPr>
          <a:xfrm>
            <a:off x="3383280" y="178308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u="sng" dirty="0">
                <a:solidFill>
                  <a:srgbClr val="F8FAFC"/>
                </a:solidFill>
                <a:hlinkClick r:id="rId6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JWT differs in prod vs tests</a:t>
            </a:r>
            <a:endParaRPr lang="en-US" sz="1300" dirty="0"/>
          </a:p>
        </p:txBody>
      </p:sp>
      <p:sp>
        <p:nvSpPr>
          <p:cNvPr id="13" name="Text 11">
            <a:hlinkClick r:id="rId7" tooltip="" action="ppaction://hlinksldjump"/>
          </p:cNvPr>
          <p:cNvSpPr/>
          <p:nvPr/>
        </p:nvSpPr>
        <p:spPr>
          <a:xfrm>
            <a:off x="3383280" y="21945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u="sng" dirty="0">
                <a:solidFill>
                  <a:srgbClr val="94A3B8"/>
                </a:solidFill>
                <a:hlinkClick r:id="rId7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ES256 JWKS in cloud · HS256 secrets in PHPUnit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26480" y="141732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1E293B"/>
          </a:solidFill>
          <a:ln/>
        </p:spPr>
      </p:sp>
      <p:sp>
        <p:nvSpPr>
          <p:cNvPr id="15" name="Text 13">
            <a:hlinkClick r:id="rId8" tooltip="" action="ppaction://hlinksldjump"/>
          </p:cNvPr>
          <p:cNvSpPr/>
          <p:nvPr/>
        </p:nvSpPr>
        <p:spPr>
          <a:xfrm>
            <a:off x="6263640" y="155448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u="sng" dirty="0">
                <a:solidFill>
                  <a:srgbClr val="F59E0B"/>
                </a:solidFill>
                <a:hlinkClick r:id="rId8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03</a:t>
            </a:r>
            <a:endParaRPr lang="en-US" sz="1100" dirty="0"/>
          </a:p>
        </p:txBody>
      </p:sp>
      <p:sp>
        <p:nvSpPr>
          <p:cNvPr id="16" name="Text 14">
            <a:hlinkClick r:id="rId9" tooltip="" action="ppaction://hlinksldjump"/>
          </p:cNvPr>
          <p:cNvSpPr/>
          <p:nvPr/>
        </p:nvSpPr>
        <p:spPr>
          <a:xfrm>
            <a:off x="6263640" y="178308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u="sng" dirty="0">
                <a:solidFill>
                  <a:srgbClr val="F8FAFC"/>
                </a:solidFill>
                <a:hlinkClick r:id="rId9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Realtime breaks on SQLite demos</a:t>
            </a:r>
            <a:endParaRPr lang="en-US" sz="1300" dirty="0"/>
          </a:p>
        </p:txBody>
      </p:sp>
      <p:sp>
        <p:nvSpPr>
          <p:cNvPr id="17" name="Text 15">
            <a:hlinkClick r:id="rId10" tooltip="" action="ppaction://hlinksldjump"/>
          </p:cNvPr>
          <p:cNvSpPr/>
          <p:nvPr/>
        </p:nvSpPr>
        <p:spPr>
          <a:xfrm>
            <a:off x="6263640" y="21945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u="sng" dirty="0">
                <a:solidFill>
                  <a:srgbClr val="94A3B8"/>
                </a:solidFill>
                <a:hlinkClick r:id="rId10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Local/CI has no Supabase CDC publication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283464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1E293B"/>
          </a:solidFill>
          <a:ln/>
        </p:spPr>
      </p:sp>
      <p:sp>
        <p:nvSpPr>
          <p:cNvPr id="19" name="Text 17">
            <a:hlinkClick r:id="rId11" tooltip="" action="ppaction://hlinksldjump"/>
          </p:cNvPr>
          <p:cNvSpPr/>
          <p:nvPr/>
        </p:nvSpPr>
        <p:spPr>
          <a:xfrm>
            <a:off x="502920" y="297180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u="sng" dirty="0">
                <a:solidFill>
                  <a:srgbClr val="F59E0B"/>
                </a:solidFill>
                <a:hlinkClick r:id="rId1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04</a:t>
            </a:r>
            <a:endParaRPr lang="en-US" sz="1100" dirty="0"/>
          </a:p>
        </p:txBody>
      </p:sp>
      <p:sp>
        <p:nvSpPr>
          <p:cNvPr id="20" name="Text 18">
            <a:hlinkClick r:id="rId12" tooltip="" action="ppaction://hlinksldjump"/>
          </p:cNvPr>
          <p:cNvSpPr/>
          <p:nvPr/>
        </p:nvSpPr>
        <p:spPr>
          <a:xfrm>
            <a:off x="502920" y="32004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u="sng" dirty="0">
                <a:solidFill>
                  <a:srgbClr val="F8FAFC"/>
                </a:solidFill>
                <a:hlinkClick r:id="rId1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Invalid order status jumps</a:t>
            </a:r>
            <a:endParaRPr lang="en-US" sz="1300" dirty="0"/>
          </a:p>
        </p:txBody>
      </p:sp>
      <p:sp>
        <p:nvSpPr>
          <p:cNvPr id="21" name="Text 19">
            <a:hlinkClick r:id="rId13" tooltip="" action="ppaction://hlinksldjump"/>
          </p:cNvPr>
          <p:cNvSpPr/>
          <p:nvPr/>
        </p:nvSpPr>
        <p:spPr>
          <a:xfrm>
            <a:off x="502920" y="361188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u="sng" dirty="0">
                <a:solidFill>
                  <a:srgbClr val="94A3B8"/>
                </a:solidFill>
                <a:hlinkClick r:id="rId13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UI could skip preparing → served without rules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246120" y="283464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1E293B"/>
          </a:solidFill>
          <a:ln/>
        </p:spPr>
      </p:sp>
      <p:sp>
        <p:nvSpPr>
          <p:cNvPr id="23" name="Text 21">
            <a:hlinkClick r:id="rId14" tooltip="" action="ppaction://hlinksldjump"/>
          </p:cNvPr>
          <p:cNvSpPr/>
          <p:nvPr/>
        </p:nvSpPr>
        <p:spPr>
          <a:xfrm>
            <a:off x="3383280" y="297180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u="sng" dirty="0">
                <a:solidFill>
                  <a:srgbClr val="F59E0B"/>
                </a:solidFill>
                <a:hlinkClick r:id="rId14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05</a:t>
            </a:r>
            <a:endParaRPr lang="en-US" sz="1100" dirty="0"/>
          </a:p>
        </p:txBody>
      </p:sp>
      <p:sp>
        <p:nvSpPr>
          <p:cNvPr id="24" name="Text 22">
            <a:hlinkClick r:id="rId15" tooltip="" action="ppaction://hlinksldjump"/>
          </p:cNvPr>
          <p:cNvSpPr/>
          <p:nvPr/>
        </p:nvSpPr>
        <p:spPr>
          <a:xfrm>
            <a:off x="3383280" y="32004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u="sng" dirty="0">
                <a:solidFill>
                  <a:srgbClr val="F8FAFC"/>
                </a:solidFill>
                <a:hlinkClick r:id="rId15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Double-booked tables</a:t>
            </a:r>
            <a:endParaRPr lang="en-US" sz="1300" dirty="0"/>
          </a:p>
        </p:txBody>
      </p:sp>
      <p:sp>
        <p:nvSpPr>
          <p:cNvPr id="25" name="Text 23">
            <a:hlinkClick r:id="rId16" tooltip="" action="ppaction://hlinksldjump"/>
          </p:cNvPr>
          <p:cNvSpPr/>
          <p:nvPr/>
        </p:nvSpPr>
        <p:spPr>
          <a:xfrm>
            <a:off x="3383280" y="361188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u="sng" dirty="0">
                <a:solidFill>
                  <a:srgbClr val="94A3B8"/>
                </a:solidFill>
                <a:hlinkClick r:id="rId16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Overlapping reservation windows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126480" y="283464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1E293B"/>
          </a:solidFill>
          <a:ln/>
        </p:spPr>
      </p:sp>
      <p:sp>
        <p:nvSpPr>
          <p:cNvPr id="27" name="Text 25">
            <a:hlinkClick r:id="rId17" tooltip="" action="ppaction://hlinksldjump"/>
          </p:cNvPr>
          <p:cNvSpPr/>
          <p:nvPr/>
        </p:nvSpPr>
        <p:spPr>
          <a:xfrm>
            <a:off x="6263640" y="297180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u="sng" dirty="0">
                <a:solidFill>
                  <a:srgbClr val="F59E0B"/>
                </a:solidFill>
                <a:hlinkClick r:id="rId17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06</a:t>
            </a:r>
            <a:endParaRPr lang="en-US" sz="1100" dirty="0"/>
          </a:p>
        </p:txBody>
      </p:sp>
      <p:sp>
        <p:nvSpPr>
          <p:cNvPr id="28" name="Text 26">
            <a:hlinkClick r:id="rId18" tooltip="" action="ppaction://hlinksldjump"/>
          </p:cNvPr>
          <p:cNvSpPr/>
          <p:nvPr/>
        </p:nvSpPr>
        <p:spPr>
          <a:xfrm>
            <a:off x="6263640" y="32004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u="sng" dirty="0">
                <a:solidFill>
                  <a:srgbClr val="F8FAFC"/>
                </a:solidFill>
                <a:hlinkClick r:id="rId18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Chapa API edge cases</a:t>
            </a:r>
            <a:endParaRPr lang="en-US" sz="1300" dirty="0"/>
          </a:p>
        </p:txBody>
      </p:sp>
      <p:sp>
        <p:nvSpPr>
          <p:cNvPr id="29" name="Text 27">
            <a:hlinkClick r:id="rId19" tooltip="" action="ppaction://hlinksldjump"/>
          </p:cNvPr>
          <p:cNvSpPr/>
          <p:nvPr/>
        </p:nvSpPr>
        <p:spPr>
          <a:xfrm>
            <a:off x="6263640" y="361188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u="sng" dirty="0">
                <a:solidFill>
                  <a:srgbClr val="94A3B8"/>
                </a:solidFill>
                <a:hlinkClick r:id="rId19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Title length limits · localhost callbacks rejected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20040" y="4709160"/>
            <a:ext cx="1005840" cy="292608"/>
          </a:xfrm>
          <a:prstGeom prst="roundRect">
            <a:avLst>
              <a:gd name="adj" fmla="val 18750"/>
            </a:avLst>
          </a:prstGeom>
          <a:solidFill>
            <a:srgbClr val="1E293B"/>
          </a:solidFill>
          <a:ln/>
        </p:spPr>
      </p:sp>
      <p:sp>
        <p:nvSpPr>
          <p:cNvPr id="31" name="Text 29">
            <a:hlinkClick r:id="rId20" tooltip="" action="ppaction://hlinksldjump"/>
          </p:cNvPr>
          <p:cNvSpPr/>
          <p:nvPr/>
        </p:nvSpPr>
        <p:spPr>
          <a:xfrm>
            <a:off x="320040" y="4709160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u="sng" dirty="0">
                <a:solidFill>
                  <a:srgbClr val="F8FAFC"/>
                </a:solidFill>
                <a:hlinkClick r:id="rId20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Menu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675120" y="4709160"/>
            <a:ext cx="1005840" cy="292608"/>
          </a:xfrm>
          <a:prstGeom prst="roundRect">
            <a:avLst>
              <a:gd name="adj" fmla="val 18750"/>
            </a:avLst>
          </a:prstGeom>
          <a:solidFill>
            <a:srgbClr val="1E293B"/>
          </a:solidFill>
          <a:ln/>
        </p:spPr>
      </p:sp>
      <p:sp>
        <p:nvSpPr>
          <p:cNvPr id="33" name="Text 31">
            <a:hlinkClick r:id="rId21" tooltip="" action="ppaction://hlinksldjump"/>
          </p:cNvPr>
          <p:cNvSpPr/>
          <p:nvPr/>
        </p:nvSpPr>
        <p:spPr>
          <a:xfrm>
            <a:off x="6675120" y="4709160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u="sng" dirty="0">
                <a:solidFill>
                  <a:srgbClr val="F8FAFC"/>
                </a:solidFill>
                <a:hlinkClick r:id="rId2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← Prev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7772400" y="4709160"/>
            <a:ext cx="1005840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/>
        </p:spPr>
      </p:sp>
      <p:sp>
        <p:nvSpPr>
          <p:cNvPr id="35" name="Text 33">
            <a:hlinkClick r:id="rId22" tooltip="" action="ppaction://hlinksldjump"/>
          </p:cNvPr>
          <p:cNvSpPr/>
          <p:nvPr/>
        </p:nvSpPr>
        <p:spPr>
          <a:xfrm>
            <a:off x="7772400" y="4709160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u="sng" dirty="0">
                <a:solidFill>
                  <a:srgbClr val="FFFFFF"/>
                </a:solidFill>
                <a:hlinkClick r:id="rId2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Next →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1463040" y="4709160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Click blue buttons to navigate · 15 min talk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5603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59E0B"/>
                </a:solidFill>
              </a:rPr>
              <a:t>HOW I RESOLVED THEM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→ fix (encoded in the codebase)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2103120" cy="438912"/>
          </a:xfrm>
          <a:prstGeom prst="roundRect">
            <a:avLst>
              <a:gd name="adj" fmla="val 12500"/>
            </a:avLst>
          </a:prstGeom>
          <a:solidFill>
            <a:srgbClr val="7F1D1D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97280"/>
            <a:ext cx="1920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</a:rPr>
              <a:t>Paid ≠ cook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514600" y="1097280"/>
            <a:ext cx="320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9E0B"/>
                </a:solidFill>
              </a:rPr>
              <a:t>→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880360" y="1097280"/>
            <a:ext cx="5852160" cy="438912"/>
          </a:xfrm>
          <a:prstGeom prst="roundRect">
            <a:avLst>
              <a:gd name="adj" fmla="val 12500"/>
            </a:avLst>
          </a:prstGeom>
          <a:solidFill>
            <a:srgbClr val="064E3B"/>
          </a:solidFill>
          <a:ln/>
        </p:spPr>
      </p:sp>
      <p:sp>
        <p:nvSpPr>
          <p:cNvPr id="9" name="Text 7"/>
          <p:cNvSpPr/>
          <p:nvPr/>
        </p:nvSpPr>
        <p:spPr>
          <a:xfrm>
            <a:off x="3017520" y="1097280"/>
            <a:ext cx="5577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</a:rPr>
              <a:t>Order::scopePaymentSettled — cash OK; Chapa needs paid + cashier_approved_at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1600200"/>
            <a:ext cx="2103120" cy="438912"/>
          </a:xfrm>
          <a:prstGeom prst="roundRect">
            <a:avLst>
              <a:gd name="adj" fmla="val 12500"/>
            </a:avLst>
          </a:prstGeom>
          <a:solidFill>
            <a:srgbClr val="7F1D1D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1600200"/>
            <a:ext cx="1920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</a:rPr>
              <a:t>JWT modes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514600" y="1600200"/>
            <a:ext cx="320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9E0B"/>
                </a:solidFill>
              </a:rPr>
              <a:t>→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2880360" y="1600200"/>
            <a:ext cx="5852160" cy="438912"/>
          </a:xfrm>
          <a:prstGeom prst="roundRect">
            <a:avLst>
              <a:gd name="adj" fmla="val 12500"/>
            </a:avLst>
          </a:prstGeom>
          <a:solidFill>
            <a:srgbClr val="064E3B"/>
          </a:solidFill>
          <a:ln/>
        </p:spPr>
      </p:sp>
      <p:sp>
        <p:nvSpPr>
          <p:cNvPr id="14" name="Text 12"/>
          <p:cNvSpPr/>
          <p:nvPr/>
        </p:nvSpPr>
        <p:spPr>
          <a:xfrm>
            <a:off x="3017520" y="1600200"/>
            <a:ext cx="5577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</a:rPr>
              <a:t>SupabaseJwtService: ES256 JWKS + HS256 for tests; claims cached 90s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2103120"/>
            <a:ext cx="2103120" cy="438912"/>
          </a:xfrm>
          <a:prstGeom prst="roundRect">
            <a:avLst>
              <a:gd name="adj" fmla="val 12500"/>
            </a:avLst>
          </a:prstGeom>
          <a:solidFill>
            <a:srgbClr val="7F1D1D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2103120"/>
            <a:ext cx="1920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</a:rPr>
              <a:t>No Realtime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514600" y="2103120"/>
            <a:ext cx="320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9E0B"/>
                </a:solidFill>
              </a:rPr>
              <a:t>→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2880360" y="2103120"/>
            <a:ext cx="5852160" cy="438912"/>
          </a:xfrm>
          <a:prstGeom prst="roundRect">
            <a:avLst>
              <a:gd name="adj" fmla="val 12500"/>
            </a:avLst>
          </a:prstGeom>
          <a:solidFill>
            <a:srgbClr val="064E3B"/>
          </a:solidFill>
          <a:ln/>
        </p:spPr>
      </p:sp>
      <p:sp>
        <p:nvSpPr>
          <p:cNvPr id="19" name="Text 17"/>
          <p:cNvSpPr/>
          <p:nvPr/>
        </p:nvSpPr>
        <p:spPr>
          <a:xfrm>
            <a:off x="3017520" y="2103120"/>
            <a:ext cx="5577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</a:rPr>
              <a:t>useOrdersRealtime: subscribe when possible; poll 5s / 12s local fallback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2606040"/>
            <a:ext cx="2103120" cy="438912"/>
          </a:xfrm>
          <a:prstGeom prst="roundRect">
            <a:avLst>
              <a:gd name="adj" fmla="val 12500"/>
            </a:avLst>
          </a:prstGeom>
          <a:solidFill>
            <a:srgbClr val="7F1D1D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2606040"/>
            <a:ext cx="1920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</a:rPr>
              <a:t>Status chaos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514600" y="2606040"/>
            <a:ext cx="320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9E0B"/>
                </a:solidFill>
              </a:rPr>
              <a:t>→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2880360" y="2606040"/>
            <a:ext cx="5852160" cy="438912"/>
          </a:xfrm>
          <a:prstGeom prst="roundRect">
            <a:avLst>
              <a:gd name="adj" fmla="val 12500"/>
            </a:avLst>
          </a:prstGeom>
          <a:solidFill>
            <a:srgbClr val="064E3B"/>
          </a:solidFill>
          <a:ln/>
        </p:spPr>
      </p:sp>
      <p:sp>
        <p:nvSpPr>
          <p:cNvPr id="24" name="Text 22"/>
          <p:cNvSpPr/>
          <p:nvPr/>
        </p:nvSpPr>
        <p:spPr>
          <a:xfrm>
            <a:off x="3017520" y="2606040"/>
            <a:ext cx="5577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</a:rPr>
              <a:t>allowedNextStatuses() + canUserTransition() per role and fulfillment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65760" y="3108960"/>
            <a:ext cx="2103120" cy="438912"/>
          </a:xfrm>
          <a:prstGeom prst="roundRect">
            <a:avLst>
              <a:gd name="adj" fmla="val 12500"/>
            </a:avLst>
          </a:prstGeom>
          <a:solidFill>
            <a:srgbClr val="7F1D1D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3108960"/>
            <a:ext cx="1920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</a:rPr>
              <a:t>Double book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514600" y="3108960"/>
            <a:ext cx="320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9E0B"/>
                </a:solidFill>
              </a:rPr>
              <a:t>→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2880360" y="3108960"/>
            <a:ext cx="5852160" cy="438912"/>
          </a:xfrm>
          <a:prstGeom prst="roundRect">
            <a:avLst>
              <a:gd name="adj" fmla="val 12500"/>
            </a:avLst>
          </a:prstGeom>
          <a:solidFill>
            <a:srgbClr val="064E3B"/>
          </a:solidFill>
          <a:ln/>
        </p:spPr>
      </p:sp>
      <p:sp>
        <p:nvSpPr>
          <p:cNvPr id="29" name="Text 27"/>
          <p:cNvSpPr/>
          <p:nvPr/>
        </p:nvSpPr>
        <p:spPr>
          <a:xfrm>
            <a:off x="3017520" y="3108960"/>
            <a:ext cx="5577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</a:rPr>
              <a:t>ReservationAvailabilityService overlap query on starts_at / ends_at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65760" y="3611880"/>
            <a:ext cx="2103120" cy="438912"/>
          </a:xfrm>
          <a:prstGeom prst="roundRect">
            <a:avLst>
              <a:gd name="adj" fmla="val 12500"/>
            </a:avLst>
          </a:prstGeom>
          <a:solidFill>
            <a:srgbClr val="7F1D1D"/>
          </a:solidFill>
          <a:ln/>
        </p:spPr>
      </p:sp>
      <p:sp>
        <p:nvSpPr>
          <p:cNvPr id="31" name="Text 29"/>
          <p:cNvSpPr/>
          <p:nvPr/>
        </p:nvSpPr>
        <p:spPr>
          <a:xfrm>
            <a:off x="457200" y="3611880"/>
            <a:ext cx="1920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</a:rPr>
              <a:t>Chapa quirks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2514600" y="3611880"/>
            <a:ext cx="320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9E0B"/>
                </a:solidFill>
              </a:rPr>
              <a:t>→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2880360" y="3611880"/>
            <a:ext cx="5852160" cy="438912"/>
          </a:xfrm>
          <a:prstGeom prst="roundRect">
            <a:avLst>
              <a:gd name="adj" fmla="val 12500"/>
            </a:avLst>
          </a:prstGeom>
          <a:solidFill>
            <a:srgbClr val="064E3B"/>
          </a:solidFill>
          <a:ln/>
        </p:spPr>
      </p:sp>
      <p:sp>
        <p:nvSpPr>
          <p:cNvPr id="34" name="Text 32"/>
          <p:cNvSpPr/>
          <p:nvPr/>
        </p:nvSpPr>
        <p:spPr>
          <a:xfrm>
            <a:off x="3017520" y="3611880"/>
            <a:ext cx="5577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</a:rPr>
              <a:t>Short titles; skip non-public callback URLs; verify + webhook paths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20040" y="4709160"/>
            <a:ext cx="1005840" cy="292608"/>
          </a:xfrm>
          <a:prstGeom prst="roundRect">
            <a:avLst>
              <a:gd name="adj" fmla="val 18750"/>
            </a:avLst>
          </a:prstGeom>
          <a:solidFill>
            <a:srgbClr val="1E293B"/>
          </a:solidFill>
          <a:ln/>
        </p:spPr>
      </p:sp>
      <p:sp>
        <p:nvSpPr>
          <p:cNvPr id="36" name="Text 34">
            <a:hlinkClick r:id="rId1" tooltip="" action="ppaction://hlinksldjump"/>
          </p:cNvPr>
          <p:cNvSpPr/>
          <p:nvPr/>
        </p:nvSpPr>
        <p:spPr>
          <a:xfrm>
            <a:off x="320040" y="4709160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u="sng" dirty="0">
                <a:solidFill>
                  <a:srgbClr val="F8FAFC"/>
                </a:solidFill>
                <a:hlinkClick r:id="rId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Menu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675120" y="4709160"/>
            <a:ext cx="1005840" cy="292608"/>
          </a:xfrm>
          <a:prstGeom prst="roundRect">
            <a:avLst>
              <a:gd name="adj" fmla="val 18750"/>
            </a:avLst>
          </a:prstGeom>
          <a:solidFill>
            <a:srgbClr val="1E293B"/>
          </a:solidFill>
          <a:ln/>
        </p:spPr>
      </p:sp>
      <p:sp>
        <p:nvSpPr>
          <p:cNvPr id="38" name="Text 36">
            <a:hlinkClick r:id="rId2" tooltip="" action="ppaction://hlinksldjump"/>
          </p:cNvPr>
          <p:cNvSpPr/>
          <p:nvPr/>
        </p:nvSpPr>
        <p:spPr>
          <a:xfrm>
            <a:off x="6675120" y="4709160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u="sng" dirty="0">
                <a:solidFill>
                  <a:srgbClr val="F8FAFC"/>
                </a:solidFill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← Prev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7772400" y="4709160"/>
            <a:ext cx="1005840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/>
        </p:spPr>
      </p:sp>
      <p:sp>
        <p:nvSpPr>
          <p:cNvPr id="40" name="Text 38">
            <a:hlinkClick r:id="rId3" tooltip="" action="ppaction://hlinksldjump"/>
          </p:cNvPr>
          <p:cNvSpPr/>
          <p:nvPr/>
        </p:nvSpPr>
        <p:spPr>
          <a:xfrm>
            <a:off x="7772400" y="4709160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u="sng" dirty="0">
                <a:solidFill>
                  <a:srgbClr val="FFFFFF"/>
                </a:solidFill>
                <a:hlinkClick r:id="rId3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Next →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1463040" y="4709160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Click blue buttons to navigate · 15 min talk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5603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59E0B"/>
                </a:solidFill>
              </a:rPr>
              <a:t>WHAT I LEARNED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and lessons from this internship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4160520" cy="3200400"/>
          </a:xfrm>
          <a:prstGeom prst="roundRect">
            <a:avLst>
              <a:gd name="adj" fmla="val 2857"/>
            </a:avLst>
          </a:prstGeom>
          <a:solidFill>
            <a:srgbClr val="1E293B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1143000"/>
            <a:ext cx="4160520" cy="731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325880"/>
            <a:ext cx="3703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</a:rPr>
              <a:t>Technical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94360" y="1783080"/>
            <a:ext cx="37033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• Full-stack monorepo: React SPA + Laravel API + shared contracts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• Auth beyond login: JWT verification, Gates, Policies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• Payment workflows are business rules, not just API calls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• Realtime systems need graceful degradation (polling)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• Feature tests lock behavior you can demo with confidence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1143000"/>
            <a:ext cx="4160520" cy="3200400"/>
          </a:xfrm>
          <a:prstGeom prst="roundRect">
            <a:avLst>
              <a:gd name="adj" fmla="val 2857"/>
            </a:avLst>
          </a:prstGeom>
          <a:solidFill>
            <a:srgbClr val="1E293B"/>
          </a:solidFill>
          <a:ln/>
        </p:spPr>
      </p:sp>
      <p:sp>
        <p:nvSpPr>
          <p:cNvPr id="10" name="Shape 8"/>
          <p:cNvSpPr/>
          <p:nvPr/>
        </p:nvSpPr>
        <p:spPr>
          <a:xfrm>
            <a:off x="4754880" y="1143000"/>
            <a:ext cx="4160520" cy="7315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1" name="Text 9"/>
          <p:cNvSpPr/>
          <p:nvPr/>
        </p:nvSpPr>
        <p:spPr>
          <a:xfrm>
            <a:off x="4983480" y="1325880"/>
            <a:ext cx="3703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</a:rPr>
              <a:t>Process &amp; craft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983480" y="1783080"/>
            <a:ext cx="37033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• Docs drift hurts demos — code + tests are the source of truth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• Fallbacks (local auth, poll) beat “cloud-only” internship demos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• Small commits + CI catch regressions early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• Name permissions clearly; share them FE ↔ BE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• Honest metrics &gt; invented latency claims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0040" y="4709160"/>
            <a:ext cx="1005840" cy="292608"/>
          </a:xfrm>
          <a:prstGeom prst="roundRect">
            <a:avLst>
              <a:gd name="adj" fmla="val 18750"/>
            </a:avLst>
          </a:prstGeom>
          <a:solidFill>
            <a:srgbClr val="1E293B"/>
          </a:solidFill>
          <a:ln/>
        </p:spPr>
      </p:sp>
      <p:sp>
        <p:nvSpPr>
          <p:cNvPr id="14" name="Text 12">
            <a:hlinkClick r:id="rId1" tooltip="" action="ppaction://hlinksldjump"/>
          </p:cNvPr>
          <p:cNvSpPr/>
          <p:nvPr/>
        </p:nvSpPr>
        <p:spPr>
          <a:xfrm>
            <a:off x="320040" y="4709160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u="sng" dirty="0">
                <a:solidFill>
                  <a:srgbClr val="F8FAFC"/>
                </a:solidFill>
                <a:hlinkClick r:id="rId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Menu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675120" y="4709160"/>
            <a:ext cx="1005840" cy="292608"/>
          </a:xfrm>
          <a:prstGeom prst="roundRect">
            <a:avLst>
              <a:gd name="adj" fmla="val 18750"/>
            </a:avLst>
          </a:prstGeom>
          <a:solidFill>
            <a:srgbClr val="1E293B"/>
          </a:solidFill>
          <a:ln/>
        </p:spPr>
      </p:sp>
      <p:sp>
        <p:nvSpPr>
          <p:cNvPr id="16" name="Text 14">
            <a:hlinkClick r:id="rId2" tooltip="" action="ppaction://hlinksldjump"/>
          </p:cNvPr>
          <p:cNvSpPr/>
          <p:nvPr/>
        </p:nvSpPr>
        <p:spPr>
          <a:xfrm>
            <a:off x="6675120" y="4709160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u="sng" dirty="0">
                <a:solidFill>
                  <a:srgbClr val="F8FAFC"/>
                </a:solidFill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← Prev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772400" y="4709160"/>
            <a:ext cx="1005840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/>
        </p:spPr>
      </p:sp>
      <p:sp>
        <p:nvSpPr>
          <p:cNvPr id="18" name="Text 16">
            <a:hlinkClick r:id="rId3" tooltip="" action="ppaction://hlinksldjump"/>
          </p:cNvPr>
          <p:cNvSpPr/>
          <p:nvPr/>
        </p:nvSpPr>
        <p:spPr>
          <a:xfrm>
            <a:off x="7772400" y="4709160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u="sng" dirty="0">
                <a:solidFill>
                  <a:srgbClr val="FFFFFF"/>
                </a:solidFill>
                <a:hlinkClick r:id="rId3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Next →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463040" y="4709160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Click blue buttons to navigate · 15 min talk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5603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59E0B"/>
                </a:solidFill>
              </a:rPr>
              <a:t>DEMO WALKTHROUGH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one order from cart to kitchen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2057400" cy="2194560"/>
          </a:xfrm>
          <a:prstGeom prst="roundRect">
            <a:avLst>
              <a:gd name="adj" fmla="val 4444"/>
            </a:avLst>
          </a:prstGeom>
          <a:solidFill>
            <a:srgbClr val="1E293B"/>
          </a:solidFill>
          <a:ln/>
        </p:spPr>
      </p:sp>
      <p:sp>
        <p:nvSpPr>
          <p:cNvPr id="6" name="Shape 4"/>
          <p:cNvSpPr/>
          <p:nvPr/>
        </p:nvSpPr>
        <p:spPr>
          <a:xfrm>
            <a:off x="1097280" y="1417320"/>
            <a:ext cx="502920" cy="50292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14173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75488" y="210312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Customer checkout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75488" y="265176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/menu → cart → cash or Chapa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560320" y="1234440"/>
            <a:ext cx="2057400" cy="2194560"/>
          </a:xfrm>
          <a:prstGeom prst="roundRect">
            <a:avLst>
              <a:gd name="adj" fmla="val 4444"/>
            </a:avLst>
          </a:prstGeom>
          <a:solidFill>
            <a:srgbClr val="1E293B"/>
          </a:solidFill>
          <a:ln/>
        </p:spPr>
      </p:sp>
      <p:sp>
        <p:nvSpPr>
          <p:cNvPr id="11" name="Shape 9"/>
          <p:cNvSpPr/>
          <p:nvPr/>
        </p:nvSpPr>
        <p:spPr>
          <a:xfrm>
            <a:off x="3291840" y="1417320"/>
            <a:ext cx="502920" cy="50292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2" name="Text 10"/>
          <p:cNvSpPr/>
          <p:nvPr/>
        </p:nvSpPr>
        <p:spPr>
          <a:xfrm>
            <a:off x="3291840" y="14173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670048" y="210312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Cashier gate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670048" y="265176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Chapa: /payments → Approve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754880" y="1234440"/>
            <a:ext cx="2057400" cy="2194560"/>
          </a:xfrm>
          <a:prstGeom prst="roundRect">
            <a:avLst>
              <a:gd name="adj" fmla="val 4444"/>
            </a:avLst>
          </a:prstGeom>
          <a:solidFill>
            <a:srgbClr val="1E293B"/>
          </a:solidFill>
          <a:ln/>
        </p:spPr>
      </p:sp>
      <p:sp>
        <p:nvSpPr>
          <p:cNvPr id="16" name="Shape 14"/>
          <p:cNvSpPr/>
          <p:nvPr/>
        </p:nvSpPr>
        <p:spPr>
          <a:xfrm>
            <a:off x="5486400" y="1417320"/>
            <a:ext cx="502920" cy="50292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0" y="14173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864608" y="210312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Kitchen queue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864608" y="265176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Preparing → Ready → Served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949440" y="1234440"/>
            <a:ext cx="2057400" cy="2194560"/>
          </a:xfrm>
          <a:prstGeom prst="roundRect">
            <a:avLst>
              <a:gd name="adj" fmla="val 4444"/>
            </a:avLst>
          </a:prstGeom>
          <a:solidFill>
            <a:srgbClr val="1E293B"/>
          </a:solidFill>
          <a:ln/>
        </p:spPr>
      </p:sp>
      <p:sp>
        <p:nvSpPr>
          <p:cNvPr id="21" name="Shape 19"/>
          <p:cNvSpPr/>
          <p:nvPr/>
        </p:nvSpPr>
        <p:spPr>
          <a:xfrm>
            <a:off x="7680960" y="1417320"/>
            <a:ext cx="502920" cy="50292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2" name="Text 20"/>
          <p:cNvSpPr/>
          <p:nvPr/>
        </p:nvSpPr>
        <p:spPr>
          <a:xfrm>
            <a:off x="7680960" y="14173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059168" y="210312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Backup plan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059168" y="265176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Screenshots if live demo fails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57200" y="36576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59E0B"/>
                </a:solidFill>
              </a:rPr>
              <a:t>Key rule to say aloud: “Cash goes to kitchen immediately; Chapa waits for cashier approval.”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320040" y="4709160"/>
            <a:ext cx="1005840" cy="292608"/>
          </a:xfrm>
          <a:prstGeom prst="roundRect">
            <a:avLst>
              <a:gd name="adj" fmla="val 18750"/>
            </a:avLst>
          </a:prstGeom>
          <a:solidFill>
            <a:srgbClr val="1E293B"/>
          </a:solidFill>
          <a:ln/>
        </p:spPr>
      </p:sp>
      <p:sp>
        <p:nvSpPr>
          <p:cNvPr id="27" name="Text 25">
            <a:hlinkClick r:id="rId1" tooltip="" action="ppaction://hlinksldjump"/>
          </p:cNvPr>
          <p:cNvSpPr/>
          <p:nvPr/>
        </p:nvSpPr>
        <p:spPr>
          <a:xfrm>
            <a:off x="320040" y="4709160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u="sng" dirty="0">
                <a:solidFill>
                  <a:srgbClr val="F8FAFC"/>
                </a:solidFill>
                <a:hlinkClick r:id="rId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Menu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675120" y="4709160"/>
            <a:ext cx="1005840" cy="292608"/>
          </a:xfrm>
          <a:prstGeom prst="roundRect">
            <a:avLst>
              <a:gd name="adj" fmla="val 18750"/>
            </a:avLst>
          </a:prstGeom>
          <a:solidFill>
            <a:srgbClr val="1E293B"/>
          </a:solidFill>
          <a:ln/>
        </p:spPr>
      </p:sp>
      <p:sp>
        <p:nvSpPr>
          <p:cNvPr id="29" name="Text 27">
            <a:hlinkClick r:id="rId2" tooltip="" action="ppaction://hlinksldjump"/>
          </p:cNvPr>
          <p:cNvSpPr/>
          <p:nvPr/>
        </p:nvSpPr>
        <p:spPr>
          <a:xfrm>
            <a:off x="6675120" y="4709160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u="sng" dirty="0">
                <a:solidFill>
                  <a:srgbClr val="F8FAFC"/>
                </a:solidFill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← Prev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7772400" y="4709160"/>
            <a:ext cx="1005840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/>
        </p:spPr>
      </p:sp>
      <p:sp>
        <p:nvSpPr>
          <p:cNvPr id="31" name="Text 29">
            <a:hlinkClick r:id="rId3" tooltip="" action="ppaction://hlinksldjump"/>
          </p:cNvPr>
          <p:cNvSpPr/>
          <p:nvPr/>
        </p:nvSpPr>
        <p:spPr>
          <a:xfrm>
            <a:off x="7772400" y="4709160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u="sng" dirty="0">
                <a:solidFill>
                  <a:srgbClr val="FFFFFF"/>
                </a:solidFill>
                <a:hlinkClick r:id="rId3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Next →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463040" y="4709160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Click blue buttons to navigate · 15 min talk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5603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59E0B"/>
                </a:solidFill>
              </a:rPr>
              <a:t>RESULTS &amp; QUALITY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without inventing vanity metrics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4114800" cy="3108960"/>
          </a:xfrm>
          <a:prstGeom prst="roundRect">
            <a:avLst>
              <a:gd name="adj" fmla="val 2353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01600" dist="25400" dir="162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143000"/>
            <a:ext cx="73152" cy="31089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7" name="Text 5"/>
          <p:cNvSpPr/>
          <p:nvPr/>
        </p:nvSpPr>
        <p:spPr>
          <a:xfrm>
            <a:off x="566928" y="1252728"/>
            <a:ext cx="3794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</a:rPr>
              <a:t>What we can claim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66928" y="1527048"/>
            <a:ext cx="3794760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• ~70+ PHPUnit tests (orders, payments, RBAC, reservations, delivery, JWT, admin)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• CI: client lint + build; server Pint + php artisan test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• End-to-end multi-role flows work in the app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• Payment gate + status machine covered by Feature tests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• Shared contracts reduce FE/BE drift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09160" y="1143000"/>
            <a:ext cx="4023360" cy="3108960"/>
          </a:xfrm>
          <a:prstGeom prst="roundRect">
            <a:avLst>
              <a:gd name="adj" fmla="val 2353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01600" dist="25400" dir="162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1143000"/>
            <a:ext cx="73152" cy="3108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1" name="Text 9"/>
          <p:cNvSpPr/>
          <p:nvPr/>
        </p:nvSpPr>
        <p:spPr>
          <a:xfrm>
            <a:off x="4910328" y="1252728"/>
            <a:ext cx="3703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</a:rPr>
              <a:t>What we will NOT invent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910328" y="1527048"/>
            <a:ext cx="3703320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• No fake “cut kitchen time by X%” numbers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• No unmeasured “sub-millisecond” latency claims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• Production KPIs need a real pilot study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• Honest answer in Q&amp;A: tests + CI are the proof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• Screenshots + live demo show UX quality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0040" y="4709160"/>
            <a:ext cx="1005840" cy="292608"/>
          </a:xfrm>
          <a:prstGeom prst="roundRect">
            <a:avLst>
              <a:gd name="adj" fmla="val 18750"/>
            </a:avLst>
          </a:prstGeom>
          <a:solidFill>
            <a:srgbClr val="1E293B"/>
          </a:solidFill>
          <a:ln/>
        </p:spPr>
      </p:sp>
      <p:sp>
        <p:nvSpPr>
          <p:cNvPr id="14" name="Text 12">
            <a:hlinkClick r:id="rId1" tooltip="" action="ppaction://hlinksldjump"/>
          </p:cNvPr>
          <p:cNvSpPr/>
          <p:nvPr/>
        </p:nvSpPr>
        <p:spPr>
          <a:xfrm>
            <a:off x="320040" y="4709160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u="sng" dirty="0">
                <a:solidFill>
                  <a:srgbClr val="F8FAFC"/>
                </a:solidFill>
                <a:hlinkClick r:id="rId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Menu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675120" y="4709160"/>
            <a:ext cx="1005840" cy="292608"/>
          </a:xfrm>
          <a:prstGeom prst="roundRect">
            <a:avLst>
              <a:gd name="adj" fmla="val 18750"/>
            </a:avLst>
          </a:prstGeom>
          <a:solidFill>
            <a:srgbClr val="1E293B"/>
          </a:solidFill>
          <a:ln/>
        </p:spPr>
      </p:sp>
      <p:sp>
        <p:nvSpPr>
          <p:cNvPr id="16" name="Text 14">
            <a:hlinkClick r:id="rId2" tooltip="" action="ppaction://hlinksldjump"/>
          </p:cNvPr>
          <p:cNvSpPr/>
          <p:nvPr/>
        </p:nvSpPr>
        <p:spPr>
          <a:xfrm>
            <a:off x="6675120" y="4709160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u="sng" dirty="0">
                <a:solidFill>
                  <a:srgbClr val="F8FAFC"/>
                </a:solidFill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← Prev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772400" y="4709160"/>
            <a:ext cx="1005840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/>
        </p:spPr>
      </p:sp>
      <p:sp>
        <p:nvSpPr>
          <p:cNvPr id="18" name="Text 16">
            <a:hlinkClick r:id="rId3" tooltip="" action="ppaction://hlinksldjump"/>
          </p:cNvPr>
          <p:cNvSpPr/>
          <p:nvPr/>
        </p:nvSpPr>
        <p:spPr>
          <a:xfrm>
            <a:off x="7772400" y="4709160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u="sng" dirty="0">
                <a:solidFill>
                  <a:srgbClr val="FFFFFF"/>
                </a:solidFill>
                <a:hlinkClick r:id="rId3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Next →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463040" y="4709160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Click blue buttons to navigate · 15 min talk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5603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59E0B"/>
                </a:solidFill>
              </a:rPr>
              <a:t>REFLECTION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would improve next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8229600" cy="640080"/>
          </a:xfrm>
          <a:prstGeom prst="roundRect">
            <a:avLst>
              <a:gd name="adj" fmla="val 11429"/>
            </a:avLst>
          </a:prstGeom>
          <a:solidFill>
            <a:srgbClr val="1E293B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216152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1. Keep docs honest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46304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README still marked some shipped features as “planned” — sync docs with code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874520"/>
            <a:ext cx="8229600" cy="640080"/>
          </a:xfrm>
          <a:prstGeom prst="roundRect">
            <a:avLst>
              <a:gd name="adj" fmla="val 11429"/>
            </a:avLst>
          </a:prstGeom>
          <a:solidFill>
            <a:srgbClr val="1E293B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947672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2. Add frontend E2E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219456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API is well tested; add Playwright for checkout + cashier approve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606040"/>
            <a:ext cx="8229600" cy="640080"/>
          </a:xfrm>
          <a:prstGeom prst="roundRect">
            <a:avLst>
              <a:gd name="adj" fmla="val 11429"/>
            </a:avLst>
          </a:prstGeom>
          <a:solidFill>
            <a:srgbClr val="1E293B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679192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3. Smoother onboarding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" y="2926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New users start with zero permissions — seed / auto-grant customer role carefully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3337560"/>
            <a:ext cx="8229600" cy="640080"/>
          </a:xfrm>
          <a:prstGeom prst="roundRect">
            <a:avLst>
              <a:gd name="adj" fmla="val 11429"/>
            </a:avLst>
          </a:prstGeom>
          <a:solidFill>
            <a:srgbClr val="1E293B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410712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4. Simplify auth modes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0080" y="365760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Local auth helped demos; production should pick one clear path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20040" y="4709160"/>
            <a:ext cx="1005840" cy="292608"/>
          </a:xfrm>
          <a:prstGeom prst="roundRect">
            <a:avLst>
              <a:gd name="adj" fmla="val 18750"/>
            </a:avLst>
          </a:prstGeom>
          <a:solidFill>
            <a:srgbClr val="1E293B"/>
          </a:solidFill>
          <a:ln/>
        </p:spPr>
      </p:sp>
      <p:sp>
        <p:nvSpPr>
          <p:cNvPr id="18" name="Text 16">
            <a:hlinkClick r:id="rId1" tooltip="" action="ppaction://hlinksldjump"/>
          </p:cNvPr>
          <p:cNvSpPr/>
          <p:nvPr/>
        </p:nvSpPr>
        <p:spPr>
          <a:xfrm>
            <a:off x="320040" y="4709160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u="sng" dirty="0">
                <a:solidFill>
                  <a:srgbClr val="F8FAFC"/>
                </a:solidFill>
                <a:hlinkClick r:id="rId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Menu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675120" y="4709160"/>
            <a:ext cx="1005840" cy="292608"/>
          </a:xfrm>
          <a:prstGeom prst="roundRect">
            <a:avLst>
              <a:gd name="adj" fmla="val 18750"/>
            </a:avLst>
          </a:prstGeom>
          <a:solidFill>
            <a:srgbClr val="1E293B"/>
          </a:solidFill>
          <a:ln/>
        </p:spPr>
      </p:sp>
      <p:sp>
        <p:nvSpPr>
          <p:cNvPr id="20" name="Text 18">
            <a:hlinkClick r:id="rId2" tooltip="" action="ppaction://hlinksldjump"/>
          </p:cNvPr>
          <p:cNvSpPr/>
          <p:nvPr/>
        </p:nvSpPr>
        <p:spPr>
          <a:xfrm>
            <a:off x="6675120" y="4709160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u="sng" dirty="0">
                <a:solidFill>
                  <a:srgbClr val="F8FAFC"/>
                </a:solidFill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← Prev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772400" y="4709160"/>
            <a:ext cx="1005840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/>
        </p:spPr>
      </p:sp>
      <p:sp>
        <p:nvSpPr>
          <p:cNvPr id="22" name="Text 20">
            <a:hlinkClick r:id="rId3" tooltip="" action="ppaction://hlinksldjump"/>
          </p:cNvPr>
          <p:cNvSpPr/>
          <p:nvPr/>
        </p:nvSpPr>
        <p:spPr>
          <a:xfrm>
            <a:off x="7772400" y="4709160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u="sng" dirty="0">
                <a:solidFill>
                  <a:srgbClr val="FFFFFF"/>
                </a:solidFill>
                <a:hlinkClick r:id="rId3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Next →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463040" y="4709160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Click blue buttons to navigate · 15 min talk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5603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59E0B"/>
                </a:solidFill>
              </a:rPr>
              <a:t>FUTURE ROADMAP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internship demo to floor-ready product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2057400" cy="2377440"/>
          </a:xfrm>
          <a:prstGeom prst="roundRect">
            <a:avLst>
              <a:gd name="adj" fmla="val 4444"/>
            </a:avLst>
          </a:prstGeom>
          <a:solidFill>
            <a:srgbClr val="1E293B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55448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NEAR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1965960"/>
            <a:ext cx="1783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</a:rPr>
              <a:t>Docs + OpenAPI sync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02920" y="2743200"/>
            <a:ext cx="1783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Contract types stay the source of truth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560320" y="1371600"/>
            <a:ext cx="2057400" cy="2377440"/>
          </a:xfrm>
          <a:prstGeom prst="roundRect">
            <a:avLst>
              <a:gd name="adj" fmla="val 4444"/>
            </a:avLst>
          </a:prstGeom>
          <a:solidFill>
            <a:srgbClr val="1E293B"/>
          </a:solidFill>
          <a:ln/>
        </p:spPr>
      </p:sp>
      <p:sp>
        <p:nvSpPr>
          <p:cNvPr id="10" name="Text 8"/>
          <p:cNvSpPr/>
          <p:nvPr/>
        </p:nvSpPr>
        <p:spPr>
          <a:xfrm>
            <a:off x="2697480" y="155448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NEAR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697480" y="1965960"/>
            <a:ext cx="1783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</a:rPr>
              <a:t>E2E + payment audit log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697480" y="2743200"/>
            <a:ext cx="1783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Trace Chapa webhook → cashier approve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754880" y="1371600"/>
            <a:ext cx="2057400" cy="2377440"/>
          </a:xfrm>
          <a:prstGeom prst="roundRect">
            <a:avLst>
              <a:gd name="adj" fmla="val 4444"/>
            </a:avLst>
          </a:prstGeom>
          <a:solidFill>
            <a:srgbClr val="1E293B"/>
          </a:solidFill>
          <a:ln/>
        </p:spPr>
      </p:sp>
      <p:sp>
        <p:nvSpPr>
          <p:cNvPr id="14" name="Text 12"/>
          <p:cNvSpPr/>
          <p:nvPr/>
        </p:nvSpPr>
        <p:spPr>
          <a:xfrm>
            <a:off x="4892040" y="155448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NEXT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892040" y="1965960"/>
            <a:ext cx="1783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</a:rPr>
              <a:t>Redis / stronger cache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892040" y="2743200"/>
            <a:ext cx="1783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JWT &amp; dashboard cache already assume it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949440" y="1371600"/>
            <a:ext cx="2057400" cy="2377440"/>
          </a:xfrm>
          <a:prstGeom prst="roundRect">
            <a:avLst>
              <a:gd name="adj" fmla="val 4444"/>
            </a:avLst>
          </a:prstGeom>
          <a:solidFill>
            <a:srgbClr val="1E293B"/>
          </a:solidFill>
          <a:ln/>
        </p:spPr>
      </p:sp>
      <p:sp>
        <p:nvSpPr>
          <p:cNvPr id="18" name="Text 16"/>
          <p:cNvSpPr/>
          <p:nvPr/>
        </p:nvSpPr>
        <p:spPr>
          <a:xfrm>
            <a:off x="7086600" y="155448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LATER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086600" y="1965960"/>
            <a:ext cx="1783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</a:rPr>
              <a:t>KDS / printer hooks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7086600" y="2743200"/>
            <a:ext cx="1783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Kitchen display integration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20040" y="4709160"/>
            <a:ext cx="1005840" cy="292608"/>
          </a:xfrm>
          <a:prstGeom prst="roundRect">
            <a:avLst>
              <a:gd name="adj" fmla="val 18750"/>
            </a:avLst>
          </a:prstGeom>
          <a:solidFill>
            <a:srgbClr val="1E293B"/>
          </a:solidFill>
          <a:ln/>
        </p:spPr>
      </p:sp>
      <p:sp>
        <p:nvSpPr>
          <p:cNvPr id="22" name="Text 20">
            <a:hlinkClick r:id="rId1" tooltip="" action="ppaction://hlinksldjump"/>
          </p:cNvPr>
          <p:cNvSpPr/>
          <p:nvPr/>
        </p:nvSpPr>
        <p:spPr>
          <a:xfrm>
            <a:off x="320040" y="4709160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u="sng" dirty="0">
                <a:solidFill>
                  <a:srgbClr val="F8FAFC"/>
                </a:solidFill>
                <a:hlinkClick r:id="rId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Menu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675120" y="4709160"/>
            <a:ext cx="1005840" cy="292608"/>
          </a:xfrm>
          <a:prstGeom prst="roundRect">
            <a:avLst>
              <a:gd name="adj" fmla="val 18750"/>
            </a:avLst>
          </a:prstGeom>
          <a:solidFill>
            <a:srgbClr val="1E293B"/>
          </a:solidFill>
          <a:ln/>
        </p:spPr>
      </p:sp>
      <p:sp>
        <p:nvSpPr>
          <p:cNvPr id="24" name="Text 22">
            <a:hlinkClick r:id="rId2" tooltip="" action="ppaction://hlinksldjump"/>
          </p:cNvPr>
          <p:cNvSpPr/>
          <p:nvPr/>
        </p:nvSpPr>
        <p:spPr>
          <a:xfrm>
            <a:off x="6675120" y="4709160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u="sng" dirty="0">
                <a:solidFill>
                  <a:srgbClr val="F8FAFC"/>
                </a:solidFill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← Prev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772400" y="4709160"/>
            <a:ext cx="1005840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/>
        </p:spPr>
      </p:sp>
      <p:sp>
        <p:nvSpPr>
          <p:cNvPr id="26" name="Text 24">
            <a:hlinkClick r:id="rId3" tooltip="" action="ppaction://hlinksldjump"/>
          </p:cNvPr>
          <p:cNvSpPr/>
          <p:nvPr/>
        </p:nvSpPr>
        <p:spPr>
          <a:xfrm>
            <a:off x="7772400" y="4709160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u="sng" dirty="0">
                <a:solidFill>
                  <a:srgbClr val="FFFFFF"/>
                </a:solidFill>
                <a:hlinkClick r:id="rId3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Next →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463040" y="4709160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Click blue buttons to navigate · 15 min talk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5603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59E0B"/>
                </a:solidFill>
              </a:rPr>
              <a:t>CONCLUSION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things to remember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8229600" cy="822960"/>
          </a:xfrm>
          <a:prstGeom prst="roundRect">
            <a:avLst>
              <a:gd name="adj" fmla="val 11111"/>
            </a:avLst>
          </a:prstGeom>
          <a:solidFill>
            <a:srgbClr val="1E293B"/>
          </a:solidFill>
          <a:ln/>
        </p:spPr>
      </p:sp>
      <p:sp>
        <p:nvSpPr>
          <p:cNvPr id="6" name="Shape 4"/>
          <p:cNvSpPr/>
          <p:nvPr/>
        </p:nvSpPr>
        <p:spPr>
          <a:xfrm>
            <a:off x="685800" y="1353312"/>
            <a:ext cx="502920" cy="50292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3533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417320" y="1298448"/>
            <a:ext cx="7040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</a:rPr>
              <a:t>Coordinate roles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417320" y="162763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One shared data model + RBAC beats separate apps and paper.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148840"/>
            <a:ext cx="8229600" cy="822960"/>
          </a:xfrm>
          <a:prstGeom prst="roundRect">
            <a:avLst>
              <a:gd name="adj" fmla="val 11111"/>
            </a:avLst>
          </a:prstGeom>
          <a:solidFill>
            <a:srgbClr val="1E293B"/>
          </a:solidFill>
          <a:ln/>
        </p:spPr>
      </p:sp>
      <p:sp>
        <p:nvSpPr>
          <p:cNvPr id="11" name="Shape 9"/>
          <p:cNvSpPr/>
          <p:nvPr/>
        </p:nvSpPr>
        <p:spPr>
          <a:xfrm>
            <a:off x="685800" y="2313432"/>
            <a:ext cx="502920" cy="50292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231343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417320" y="2258568"/>
            <a:ext cx="7040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</a:rPr>
              <a:t>Gate the kitchen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417320" y="258775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Trusted payment first: Chapa paid → cashier approve → cook.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3108960"/>
            <a:ext cx="8229600" cy="822960"/>
          </a:xfrm>
          <a:prstGeom prst="roundRect">
            <a:avLst>
              <a:gd name="adj" fmla="val 11111"/>
            </a:avLst>
          </a:prstGeom>
          <a:solidFill>
            <a:srgbClr val="1E293B"/>
          </a:solidFill>
          <a:ln/>
        </p:spPr>
      </p:sp>
      <p:sp>
        <p:nvSpPr>
          <p:cNvPr id="16" name="Shape 14"/>
          <p:cNvSpPr/>
          <p:nvPr/>
        </p:nvSpPr>
        <p:spPr>
          <a:xfrm>
            <a:off x="685800" y="3273552"/>
            <a:ext cx="502920" cy="50292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327355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417320" y="3218688"/>
            <a:ext cx="7040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</a:rPr>
              <a:t>Prove with tests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417320" y="354787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Realtime with fallbacks + PHPUnit/CI made it demoable and safe.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20040" y="4709160"/>
            <a:ext cx="1005840" cy="292608"/>
          </a:xfrm>
          <a:prstGeom prst="roundRect">
            <a:avLst>
              <a:gd name="adj" fmla="val 18750"/>
            </a:avLst>
          </a:prstGeom>
          <a:solidFill>
            <a:srgbClr val="1E293B"/>
          </a:solidFill>
          <a:ln/>
        </p:spPr>
      </p:sp>
      <p:sp>
        <p:nvSpPr>
          <p:cNvPr id="21" name="Text 19">
            <a:hlinkClick r:id="rId1" tooltip="" action="ppaction://hlinksldjump"/>
          </p:cNvPr>
          <p:cNvSpPr/>
          <p:nvPr/>
        </p:nvSpPr>
        <p:spPr>
          <a:xfrm>
            <a:off x="320040" y="4709160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u="sng" dirty="0">
                <a:solidFill>
                  <a:srgbClr val="F8FAFC"/>
                </a:solidFill>
                <a:hlinkClick r:id="rId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Menu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675120" y="4709160"/>
            <a:ext cx="1005840" cy="292608"/>
          </a:xfrm>
          <a:prstGeom prst="roundRect">
            <a:avLst>
              <a:gd name="adj" fmla="val 18750"/>
            </a:avLst>
          </a:prstGeom>
          <a:solidFill>
            <a:srgbClr val="1E293B"/>
          </a:solidFill>
          <a:ln/>
        </p:spPr>
      </p:sp>
      <p:sp>
        <p:nvSpPr>
          <p:cNvPr id="23" name="Text 21">
            <a:hlinkClick r:id="rId2" tooltip="" action="ppaction://hlinksldjump"/>
          </p:cNvPr>
          <p:cNvSpPr/>
          <p:nvPr/>
        </p:nvSpPr>
        <p:spPr>
          <a:xfrm>
            <a:off x="6675120" y="4709160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u="sng" dirty="0">
                <a:solidFill>
                  <a:srgbClr val="F8FAFC"/>
                </a:solidFill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← Prev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772400" y="4709160"/>
            <a:ext cx="1005840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/>
        </p:spPr>
      </p:sp>
      <p:sp>
        <p:nvSpPr>
          <p:cNvPr id="25" name="Text 23">
            <a:hlinkClick r:id="rId3" tooltip="" action="ppaction://hlinksldjump"/>
          </p:cNvPr>
          <p:cNvSpPr/>
          <p:nvPr/>
        </p:nvSpPr>
        <p:spPr>
          <a:xfrm>
            <a:off x="7772400" y="4709160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u="sng" dirty="0">
                <a:solidFill>
                  <a:srgbClr val="FFFFFF"/>
                </a:solidFill>
                <a:hlinkClick r:id="rId3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Next →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463040" y="4709160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Click blue buttons to navigate · 15 min talk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5603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59E0B"/>
                </a:solidFill>
              </a:rPr>
              <a:t>QUESTIONS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me anything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</a:rPr>
              <a:t>Ready topics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645920"/>
            <a:ext cx="2651760" cy="731520"/>
          </a:xfrm>
          <a:prstGeom prst="roundRect">
            <a:avLst>
              <a:gd name="adj" fmla="val 12500"/>
            </a:avLst>
          </a:prstGeom>
          <a:solidFill>
            <a:srgbClr val="1E293B"/>
          </a:solidFill>
          <a:ln/>
        </p:spPr>
      </p:sp>
      <p:sp>
        <p:nvSpPr>
          <p:cNvPr id="7" name="Text 5">
            <a:hlinkClick r:id="rId1" tooltip="" action="ppaction://hlinksldjump"/>
          </p:cNvPr>
          <p:cNvSpPr/>
          <p:nvPr/>
        </p:nvSpPr>
        <p:spPr>
          <a:xfrm>
            <a:off x="457200" y="164592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u="sng" dirty="0">
                <a:solidFill>
                  <a:srgbClr val="F8FAFC"/>
                </a:solidFill>
                <a:hlinkClick r:id="rId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Auth / JWT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291840" y="1645920"/>
            <a:ext cx="2651760" cy="731520"/>
          </a:xfrm>
          <a:prstGeom prst="roundRect">
            <a:avLst>
              <a:gd name="adj" fmla="val 12500"/>
            </a:avLst>
          </a:prstGeom>
          <a:solidFill>
            <a:srgbClr val="1E293B"/>
          </a:solidFill>
          <a:ln/>
        </p:spPr>
      </p:sp>
      <p:sp>
        <p:nvSpPr>
          <p:cNvPr id="9" name="Text 7">
            <a:hlinkClick r:id="rId2" tooltip="" action="ppaction://hlinksldjump"/>
          </p:cNvPr>
          <p:cNvSpPr/>
          <p:nvPr/>
        </p:nvSpPr>
        <p:spPr>
          <a:xfrm>
            <a:off x="3291840" y="164592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u="sng" dirty="0">
                <a:solidFill>
                  <a:srgbClr val="F8FAFC"/>
                </a:solidFill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Payment gate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126480" y="1645920"/>
            <a:ext cx="2651760" cy="731520"/>
          </a:xfrm>
          <a:prstGeom prst="roundRect">
            <a:avLst>
              <a:gd name="adj" fmla="val 12500"/>
            </a:avLst>
          </a:prstGeom>
          <a:solidFill>
            <a:srgbClr val="1E293B"/>
          </a:solidFill>
          <a:ln/>
        </p:spPr>
      </p:sp>
      <p:sp>
        <p:nvSpPr>
          <p:cNvPr id="11" name="Text 9">
            <a:hlinkClick r:id="rId3" tooltip="" action="ppaction://hlinksldjump"/>
          </p:cNvPr>
          <p:cNvSpPr/>
          <p:nvPr/>
        </p:nvSpPr>
        <p:spPr>
          <a:xfrm>
            <a:off x="6126480" y="164592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u="sng" dirty="0">
                <a:solidFill>
                  <a:srgbClr val="F8FAFC"/>
                </a:solidFill>
                <a:hlinkClick r:id="rId3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Problems &amp; fixes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57200" y="2560320"/>
            <a:ext cx="2651760" cy="731520"/>
          </a:xfrm>
          <a:prstGeom prst="roundRect">
            <a:avLst>
              <a:gd name="adj" fmla="val 12500"/>
            </a:avLst>
          </a:prstGeom>
          <a:solidFill>
            <a:srgbClr val="1E293B"/>
          </a:solidFill>
          <a:ln/>
        </p:spPr>
      </p:sp>
      <p:sp>
        <p:nvSpPr>
          <p:cNvPr id="13" name="Text 11">
            <a:hlinkClick r:id="rId4" tooltip="" action="ppaction://hlinksldjump"/>
          </p:cNvPr>
          <p:cNvSpPr/>
          <p:nvPr/>
        </p:nvSpPr>
        <p:spPr>
          <a:xfrm>
            <a:off x="457200" y="256032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u="sng" dirty="0">
                <a:solidFill>
                  <a:srgbClr val="F8FAFC"/>
                </a:solidFill>
                <a:hlinkClick r:id="rId4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What I learned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3291840" y="2560320"/>
            <a:ext cx="2651760" cy="731520"/>
          </a:xfrm>
          <a:prstGeom prst="roundRect">
            <a:avLst>
              <a:gd name="adj" fmla="val 12500"/>
            </a:avLst>
          </a:prstGeom>
          <a:solidFill>
            <a:srgbClr val="1E293B"/>
          </a:solidFill>
          <a:ln/>
        </p:spPr>
      </p:sp>
      <p:sp>
        <p:nvSpPr>
          <p:cNvPr id="15" name="Text 13">
            <a:hlinkClick r:id="rId5" tooltip="" action="ppaction://hlinksldjump"/>
          </p:cNvPr>
          <p:cNvSpPr/>
          <p:nvPr/>
        </p:nvSpPr>
        <p:spPr>
          <a:xfrm>
            <a:off x="3291840" y="256032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u="sng" dirty="0">
                <a:solidFill>
                  <a:srgbClr val="F8FAFC"/>
                </a:solidFill>
                <a:hlinkClick r:id="rId5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Demo path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126480" y="2560320"/>
            <a:ext cx="2651760" cy="731520"/>
          </a:xfrm>
          <a:prstGeom prst="roundRect">
            <a:avLst>
              <a:gd name="adj" fmla="val 12500"/>
            </a:avLst>
          </a:prstGeom>
          <a:solidFill>
            <a:srgbClr val="1E293B"/>
          </a:solidFill>
          <a:ln/>
        </p:spPr>
      </p:sp>
      <p:sp>
        <p:nvSpPr>
          <p:cNvPr id="17" name="Text 15">
            <a:hlinkClick r:id="rId6" tooltip="" action="ppaction://hlinksldjump"/>
          </p:cNvPr>
          <p:cNvSpPr/>
          <p:nvPr/>
        </p:nvSpPr>
        <p:spPr>
          <a:xfrm>
            <a:off x="6126480" y="256032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u="sng" dirty="0">
                <a:solidFill>
                  <a:srgbClr val="F8FAFC"/>
                </a:solidFill>
                <a:hlinkClick r:id="rId6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Back to menu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57200" y="3794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4A3B8"/>
                </a:solidFill>
              </a:rPr>
              <a:t>“We encoded restaurant trust into paymentSettled, permissions, and tests.”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20040" y="4709160"/>
            <a:ext cx="1005840" cy="292608"/>
          </a:xfrm>
          <a:prstGeom prst="roundRect">
            <a:avLst>
              <a:gd name="adj" fmla="val 18750"/>
            </a:avLst>
          </a:prstGeom>
          <a:solidFill>
            <a:srgbClr val="1E293B"/>
          </a:solidFill>
          <a:ln/>
        </p:spPr>
      </p:sp>
      <p:sp>
        <p:nvSpPr>
          <p:cNvPr id="20" name="Text 18">
            <a:hlinkClick r:id="rId7" tooltip="" action="ppaction://hlinksldjump"/>
          </p:cNvPr>
          <p:cNvSpPr/>
          <p:nvPr/>
        </p:nvSpPr>
        <p:spPr>
          <a:xfrm>
            <a:off x="320040" y="4709160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u="sng" dirty="0">
                <a:solidFill>
                  <a:srgbClr val="F8FAFC"/>
                </a:solidFill>
                <a:hlinkClick r:id="rId7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Menu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675120" y="4709160"/>
            <a:ext cx="1005840" cy="292608"/>
          </a:xfrm>
          <a:prstGeom prst="roundRect">
            <a:avLst>
              <a:gd name="adj" fmla="val 18750"/>
            </a:avLst>
          </a:prstGeom>
          <a:solidFill>
            <a:srgbClr val="1E293B"/>
          </a:solidFill>
          <a:ln/>
        </p:spPr>
      </p:sp>
      <p:sp>
        <p:nvSpPr>
          <p:cNvPr id="22" name="Text 20">
            <a:hlinkClick r:id="rId8" tooltip="" action="ppaction://hlinksldjump"/>
          </p:cNvPr>
          <p:cNvSpPr/>
          <p:nvPr/>
        </p:nvSpPr>
        <p:spPr>
          <a:xfrm>
            <a:off x="6675120" y="4709160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u="sng" dirty="0">
                <a:solidFill>
                  <a:srgbClr val="F8FAFC"/>
                </a:solidFill>
                <a:hlinkClick r:id="rId8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← Prev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772400" y="4709160"/>
            <a:ext cx="1005840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/>
        </p:spPr>
      </p:sp>
      <p:sp>
        <p:nvSpPr>
          <p:cNvPr id="24" name="Text 22">
            <a:hlinkClick r:id="rId9" tooltip="" action="ppaction://hlinksldjump"/>
          </p:cNvPr>
          <p:cNvSpPr/>
          <p:nvPr/>
        </p:nvSpPr>
        <p:spPr>
          <a:xfrm>
            <a:off x="7772400" y="4709160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u="sng" dirty="0">
                <a:solidFill>
                  <a:srgbClr val="FFFFFF"/>
                </a:solidFill>
                <a:hlinkClick r:id="rId9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Next →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463040" y="4709160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Click blue buttons to navigate · 15 min talk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Restaurant Operations Platform — Internship Presentation</dc:title>
  <dc:subject>Interactive 15-minute deck</dc:subject>
  <dc:creator>Internship Project</dc:creator>
  <cp:lastModifiedBy>Internship Project</cp:lastModifiedBy>
  <cp:revision>1</cp:revision>
  <dcterms:created xsi:type="dcterms:W3CDTF">2026-10-03T07:59:09Z</dcterms:created>
  <dcterms:modified xsi:type="dcterms:W3CDTF">2026-10-03T07:59:09Z</dcterms:modified>
</cp:coreProperties>
</file>